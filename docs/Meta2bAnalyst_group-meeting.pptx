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Good afternoon everyone. Today I want to introduce Meta2bAnalyst — the analysis platform our lab has been building for 2bRAD microbiome and multi-omics data. [pause]
The short version: it takes the abundance tables our tools produce — 2bRAD-M, Strain2bScan, Tag2bMap, but also standard QIIME or Mothur output — and turns them into publication-ready statistics and figures, entirely in the browser.
The real headline is at the bottom: it is already deployed on our intranet, at this address. By the end of this talk I'll ask each of you to log in and try to break it. Let's start with why we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Why did we build this? Three reasons. [point at each row]
First, the toolchain. Getting one PCoA figure today means the data travels through QIIME, then someone's R script, then some Python glue. Every hand-off risks breaking sample names or silently changing normalization.
Second, the coding barrier. The colleagues who actually generated the samples can't run the statistics themselves — everything queues behind whoever writes the scripts. Usually me. [smile]
Third, consistency. Filters and test choices drift between projects, so results from two students in the same lab aren't really comparable.
So the goal was simple: one platform, one workflow, web-based.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Here is the shape of the platform. [point at the steps, left to right]
You upload your tables — validation happens immediately, before anything else. Then an inspect step: do the sample names match between table and metadata? Are library sizes reasonable? How sparse is the data? Problems surface here, not halfway through a analysis.
Then analysis — either module by module, or you just ask the Agent, which I'll show in a minute. Every figure comes with a written interpretation, and everything exports as PNG, SVG or tables.
One thing I want to stress, bottom left: these are the real R packages — DESeq2, edgeR, ANCOMBC — not reimplementations. If a method is missing, the platform says so; it never silently swaps in a different test.
[point at screenshot] This is the live home page — the four analysis modules you see there structure the rest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What goes in? [gesture across the chips] Everything our own tools output — 2bRAD-M species and function tables, Strain2bScan results, Tag2bMap mappings — plus the community standards: QIIME artefacts, BIOM, Mothur shared files, and honestly any CSV or TSV abundance matrix.
No reformatting, no conversion scripts. The upload step auto-detects the format and runs validation: sample names matched against metadata, library sizes, sparsity, group variables. If something looks wrong you get a report immediately — before a single statistical test has run, not after.
From one validated upload, all three analysis levels on the right are available on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Module one, species level — the bread and butter. [left column]
Diversity: all the standard alpha indices, beta diversities with PCoA and NMDS ordination. Discovery side: parametric and non-parametric group tests, LEfSe for biomarker discovery, and Random Forest when you want classification or feature importance.
One design rule worth mentioning: every figure comes with its statistics attached — the test, the p-values, the underlying numbers. Nothing is just a pretty picture; you can always check what the figure claims.
[point at screenshot] This is the microbiome module page — you pick the analysis, adjust parameters if you want,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This is the module I'm proudest of, and the reason the platform is named Meta2b-Analyst. [pause]
Our 2bRAD approach resolves below species level, so strain-level output from Strain2bScan goes in directly — and the platform treats strains as first-class citizens.
[walk the cards] Per-species strain composition. Strain richness and diversity. Then two indices we designed: the Replacement Score, which quantifies how much the strain population turned over between two groups — think health versus disease — and the Dominance Index, which flags which strain is winning within each species. Plus co-occurrence and mutual-exclusion networks.
Why does this matter? Because two groups can have identical species profiles and completely different strains. Species-level tools are blind to that. This isn't in QIIME, Mothur or any of the standard platforms — it's specific to our data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Module three brings the layers together — species, function genes and strains.
Three families of methods. Cross-omics correlation matrices with multiple-testing control. Global tests — Procrustes and Mantel — that statistically tie the ordination of one omics to another. And joint views: three-layer heatmaps and networks.
[point at figures] And these are real outputs from the platform, not mock-ups: a Procrustes linking the microbe and metabolite ordinations sample by sample, a Mantel correlation, and a differential-abundance heatmap. All from the built-in demo dataset, which I'll show you in two slides.
For anyone doing multi-omics, the point is this: the integration steps that normally take a week of scripting are menu items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Now my favourite part — the AI Agent. [point at screenshot]
You type what you want in plain language, English or Chinese. “PCoA coloured by Visit, point size by Bleeding.” The agent drafts an analysis plan — which methods, which parameters, in which order. You review it, approve it, and it executes on the real engine, streaming progress as it goes. Then you get the figures plus a written interpretation of the results.
Two things to note. It's a planner and orchestrator, not a replacement for the statistics — the actual tests are still the R packages from slide three. And it works in guest mode, so you can all try it the moment you open the site, no account needed.
This is the part I most want feedback on — if it misunderstands your question, that's exactly what I need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You don't need your own data to test the platform — it ships with real published data.
This is the Huang mBio 2021 gingivitis study: 261 plaque samples followed over time, 44 genera, over eleven hundred metabolites, and 20 clinical variables including bleeding scores. A genuinely hard dataset, not a toy.
It comes pre-packaged in four flavours matching the modules: microbiome only, metabolome only, the full multi-omics set, and a multi-site version with saliva and urine.
From the Agent page, one click on ‘Load demo dataset’ creates a session with everything uploaded and validated. Which means — and this is the practical point — every analysis you saw in this talk is reproducible by you in about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Or use one of the shared test accounts: student01 to student10, password Meta2b-2026 — they are pre-created, log in and you can upload your own data immediately; change the password any time from the profile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And here is what I'm actually asking for. [walk the four items]
One: take a demo dataset and run an analysis you'd normally do — then tell me how the output compares to your usual pipeline. Two: upload your own abundance tables. The validation layer is what most needs real-world, messy data. Three: ask the Agent a question from your actual project, in either language — when it misunderstands you, that's not a failure, that's the most valuable feedback I can get. Four: genuinely, try to break it. Weird formats, three-sample groups, all-missing columns.
[point at the card] And reporting couldn't be simpler: a screenshot plus one line — which page, what you clicked, what happened. Thirty seconds of your time, and every one of those reports makes the platform better for all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That's the platform. [pause]
One ask before we close: open this address this week — guest mode, no account, thirty seconds to load a demo dataset. And if you want to put your own data through it, come find me for an account.
Everything you saw — the four modules, the strain analytics, the multi-omics figures, the Agent — is running on that URL right now, on our own server.
Thank you. Happy to take questions — and equally happy to take bug reports. [smile]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1234440"/>
            <a:ext cx="10515600" cy="274320"/>
          </a:xfrm>
          <a:prstGeom prst="rect">
            <a:avLst/>
          </a:prstGeom>
          <a:noFill/>
          <a:ln/>
        </p:spPr>
        <p:txBody>
          <a:bodyPr wrap="square" lIns="0" tIns="0" rIns="0" bIns="0" rtlCol="0" anchor="ctr"/>
          <a:lstStyle/>
          <a:p>
            <a:pPr indent="0" marL="0">
              <a:buNone/>
            </a:pPr>
            <a:r>
              <a:rPr lang="en-US" sz="1200" b="1" spc="300" kern="0" dirty="0">
                <a:solidFill>
                  <a:srgbClr val="D97706"/>
                </a:solidFill>
                <a:latin typeface="Helvetica Neue" pitchFamily="34" charset="0"/>
                <a:ea typeface="Helvetica Neue" pitchFamily="34" charset="-122"/>
                <a:cs typeface="Helvetica Neue" pitchFamily="34" charset="-120"/>
              </a:rPr>
              <a:t>LAB GROUP MEETING  ·  PLATFORM INTRODUCTION  ·  BETA TEST INVITATION</a:t>
            </a:r>
            <a:endParaRPr lang="en-US" sz="1200" dirty="0"/>
          </a:p>
        </p:txBody>
      </p:sp>
      <p:sp>
        <p:nvSpPr>
          <p:cNvPr id="3" name="Text 1"/>
          <p:cNvSpPr/>
          <p:nvPr/>
        </p:nvSpPr>
        <p:spPr>
          <a:xfrm>
            <a:off x="548640" y="1627632"/>
            <a:ext cx="10515600" cy="1051560"/>
          </a:xfrm>
          <a:prstGeom prst="rect">
            <a:avLst/>
          </a:prstGeom>
          <a:noFill/>
          <a:ln/>
        </p:spPr>
        <p:txBody>
          <a:bodyPr wrap="square" lIns="0" tIns="0" rIns="0" bIns="0" rtlCol="0" anchor="ctr"/>
          <a:lstStyle/>
          <a:p>
            <a:pPr indent="0" marL="0">
              <a:buNone/>
            </a:pPr>
            <a:r>
              <a:rPr lang="en-US" sz="6000" b="1" dirty="0">
                <a:solidFill>
                  <a:srgbClr val="FFFFFF"/>
                </a:solidFill>
                <a:latin typeface="Helvetica Neue" pitchFamily="34" charset="0"/>
                <a:ea typeface="Helvetica Neue" pitchFamily="34" charset="-122"/>
                <a:cs typeface="Helvetica Neue" pitchFamily="34" charset="-120"/>
              </a:rPr>
              <a:t>Meta2bAnalyst</a:t>
            </a:r>
            <a:endParaRPr lang="en-US" sz="6000" dirty="0"/>
          </a:p>
        </p:txBody>
      </p:sp>
      <p:sp>
        <p:nvSpPr>
          <p:cNvPr id="4" name="Text 2"/>
          <p:cNvSpPr/>
          <p:nvPr/>
        </p:nvSpPr>
        <p:spPr>
          <a:xfrm>
            <a:off x="548640" y="2788920"/>
            <a:ext cx="9601200" cy="868680"/>
          </a:xfrm>
          <a:prstGeom prst="rect">
            <a:avLst/>
          </a:prstGeom>
          <a:noFill/>
          <a:ln/>
        </p:spPr>
        <p:txBody>
          <a:bodyPr wrap="square" lIns="0" tIns="0" rIns="0" bIns="0" rtlCol="0" anchor="ctr"/>
          <a:lstStyle/>
          <a:p>
            <a:pPr indent="0" marL="0">
              <a:lnSpc>
                <a:spcPct val="125000"/>
              </a:lnSpc>
              <a:buNone/>
            </a:pPr>
            <a:r>
              <a:rPr lang="en-US" sz="1800" dirty="0">
                <a:solidFill>
                  <a:srgbClr val="CBD5E1"/>
                </a:solidFill>
                <a:latin typeface="Helvetica Neue" pitchFamily="34" charset="0"/>
                <a:ea typeface="Helvetica Neue" pitchFamily="34" charset="-122"/>
                <a:cs typeface="Helvetica Neue" pitchFamily="34" charset="-120"/>
              </a:rPr>
              <a:t>One-stop statistical analysis for 2bRAD microbiome &amp; multi-omics data —</a:t>
            </a:r>
            <a:endParaRPr lang="en-US" sz="1800" dirty="0"/>
          </a:p>
          <a:p>
            <a:pPr indent="0" marL="0">
              <a:lnSpc>
                <a:spcPct val="125000"/>
              </a:lnSpc>
              <a:buNone/>
            </a:pPr>
            <a:r>
              <a:rPr lang="en-US" sz="1800" dirty="0">
                <a:solidFill>
                  <a:srgbClr val="CBD5E1"/>
                </a:solidFill>
                <a:latin typeface="Helvetica Neue" pitchFamily="34" charset="0"/>
                <a:ea typeface="Helvetica Neue" pitchFamily="34" charset="-122"/>
                <a:cs typeface="Helvetica Neue" pitchFamily="34" charset="-120"/>
              </a:rPr>
              <a:t>in the browser, with real R statistics behind every figure.</a:t>
            </a:r>
            <a:endParaRPr lang="en-US" sz="1800" dirty="0"/>
          </a:p>
        </p:txBody>
      </p:sp>
      <p:sp>
        <p:nvSpPr>
          <p:cNvPr id="5" name="Shape 3"/>
          <p:cNvSpPr/>
          <p:nvPr/>
        </p:nvSpPr>
        <p:spPr>
          <a:xfrm>
            <a:off x="548640" y="4069080"/>
            <a:ext cx="3584448" cy="914400"/>
          </a:xfrm>
          <a:prstGeom prst="roundRect">
            <a:avLst>
              <a:gd name="adj" fmla="val 7000"/>
            </a:avLst>
          </a:prstGeom>
          <a:solidFill>
            <a:srgbClr val="1E293B"/>
          </a:solidFill>
          <a:ln w="15875">
            <a:solidFill>
              <a:srgbClr val="0F766E"/>
            </a:solidFill>
            <a:prstDash val="solid"/>
          </a:ln>
        </p:spPr>
        <p:txBody>
          <a:bodyPr/>
          <a:p/>
        </p:txBody>
      </p:sp>
      <p:sp>
        <p:nvSpPr>
          <p:cNvPr id="6" name="Text 4"/>
          <p:cNvSpPr/>
          <p:nvPr/>
        </p:nvSpPr>
        <p:spPr>
          <a:xfrm>
            <a:off x="749808" y="4187952"/>
            <a:ext cx="3200400" cy="713232"/>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Helvetica Neue" pitchFamily="34" charset="0"/>
                <a:ea typeface="Helvetica Neue" pitchFamily="34" charset="-122"/>
                <a:cs typeface="Helvetica Neue" pitchFamily="34" charset="-120"/>
              </a:rPr>
              <a:t>4 analysis modules</a:t>
            </a:r>
            <a:endParaRPr lang="en-US" sz="1500" dirty="0"/>
          </a:p>
          <a:p>
            <a:pPr indent="0" marL="0">
              <a:spcAft>
                <a:spcPts val="400"/>
              </a:spcAft>
              <a:buNone/>
            </a:pPr>
            <a:r>
              <a:rPr lang="en-US" sz="1000" dirty="0">
                <a:solidFill>
                  <a:srgbClr val="CBD5E1"/>
                </a:solidFill>
                <a:latin typeface="Helvetica Neue" pitchFamily="34" charset="0"/>
                <a:ea typeface="Helvetica Neue" pitchFamily="34" charset="-122"/>
                <a:cs typeface="Helvetica Neue" pitchFamily="34" charset="-120"/>
              </a:rPr>
              <a:t>species · function · strain · multi-omics</a:t>
            </a:r>
            <a:endParaRPr lang="en-US" sz="1500" dirty="0"/>
          </a:p>
        </p:txBody>
      </p:sp>
      <p:sp>
        <p:nvSpPr>
          <p:cNvPr id="7" name="Shape 5"/>
          <p:cNvSpPr/>
          <p:nvPr/>
        </p:nvSpPr>
        <p:spPr>
          <a:xfrm>
            <a:off x="4315968" y="4069080"/>
            <a:ext cx="3584448" cy="914400"/>
          </a:xfrm>
          <a:prstGeom prst="roundRect">
            <a:avLst>
              <a:gd name="adj" fmla="val 7000"/>
            </a:avLst>
          </a:prstGeom>
          <a:solidFill>
            <a:srgbClr val="1E293B"/>
          </a:solidFill>
          <a:ln w="15875">
            <a:solidFill>
              <a:srgbClr val="0F766E"/>
            </a:solidFill>
            <a:prstDash val="solid"/>
          </a:ln>
        </p:spPr>
        <p:txBody>
          <a:bodyPr/>
          <a:p/>
        </p:txBody>
      </p:sp>
      <p:sp>
        <p:nvSpPr>
          <p:cNvPr id="8" name="Text 6"/>
          <p:cNvSpPr/>
          <p:nvPr/>
        </p:nvSpPr>
        <p:spPr>
          <a:xfrm>
            <a:off x="4517136" y="4187952"/>
            <a:ext cx="3200400" cy="713232"/>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Helvetica Neue" pitchFamily="34" charset="0"/>
                <a:ea typeface="Helvetica Neue" pitchFamily="34" charset="-122"/>
                <a:cs typeface="Helvetica Neue" pitchFamily="34" charset="-120"/>
              </a:rPr>
              <a:t>6 input formats</a:t>
            </a:r>
            <a:endParaRPr lang="en-US" sz="1500" dirty="0"/>
          </a:p>
          <a:p>
            <a:pPr indent="0" marL="0">
              <a:spcAft>
                <a:spcPts val="400"/>
              </a:spcAft>
              <a:buNone/>
            </a:pPr>
            <a:r>
              <a:rPr lang="en-US" sz="1000" dirty="0">
                <a:solidFill>
                  <a:srgbClr val="CBD5E1"/>
                </a:solidFill>
                <a:latin typeface="Helvetica Neue" pitchFamily="34" charset="0"/>
                <a:ea typeface="Helvetica Neue" pitchFamily="34" charset="-122"/>
                <a:cs typeface="Helvetica Neue" pitchFamily="34" charset="-120"/>
              </a:rPr>
              <a:t>2bRAD-M · Strain2bScan · Tag2bMap · QIIME · Mothur · CSV</a:t>
            </a:r>
            <a:endParaRPr lang="en-US" sz="1500" dirty="0"/>
          </a:p>
        </p:txBody>
      </p:sp>
      <p:sp>
        <p:nvSpPr>
          <p:cNvPr id="9" name="Shape 7"/>
          <p:cNvSpPr/>
          <p:nvPr/>
        </p:nvSpPr>
        <p:spPr>
          <a:xfrm>
            <a:off x="8083296" y="4069080"/>
            <a:ext cx="3584448" cy="914400"/>
          </a:xfrm>
          <a:prstGeom prst="roundRect">
            <a:avLst>
              <a:gd name="adj" fmla="val 7000"/>
            </a:avLst>
          </a:prstGeom>
          <a:solidFill>
            <a:srgbClr val="1E293B"/>
          </a:solidFill>
          <a:ln w="15875">
            <a:solidFill>
              <a:srgbClr val="0F766E"/>
            </a:solidFill>
            <a:prstDash val="solid"/>
          </a:ln>
        </p:spPr>
        <p:txBody>
          <a:bodyPr/>
          <a:p/>
        </p:txBody>
      </p:sp>
      <p:sp>
        <p:nvSpPr>
          <p:cNvPr id="10" name="Text 8"/>
          <p:cNvSpPr/>
          <p:nvPr/>
        </p:nvSpPr>
        <p:spPr>
          <a:xfrm>
            <a:off x="8284464" y="4187952"/>
            <a:ext cx="3200400" cy="713232"/>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Helvetica Neue" pitchFamily="34" charset="0"/>
                <a:ea typeface="Helvetica Neue" pitchFamily="34" charset="-122"/>
                <a:cs typeface="Helvetica Neue" pitchFamily="34" charset="-120"/>
              </a:rPr>
              <a:t>Zero install</a:t>
            </a:r>
            <a:endParaRPr lang="en-US" sz="1500" dirty="0"/>
          </a:p>
          <a:p>
            <a:pPr indent="0" marL="0">
              <a:spcAft>
                <a:spcPts val="400"/>
              </a:spcAft>
              <a:buNone/>
            </a:pPr>
            <a:r>
              <a:rPr lang="en-US" sz="1000" dirty="0">
                <a:solidFill>
                  <a:srgbClr val="CBD5E1"/>
                </a:solidFill>
                <a:latin typeface="Helvetica Neue" pitchFamily="34" charset="0"/>
                <a:ea typeface="Helvetica Neue" pitchFamily="34" charset="-122"/>
                <a:cs typeface="Helvetica Neue" pitchFamily="34" charset="-120"/>
              </a:rPr>
              <a:t>runs in the browser on the lab intranet</a:t>
            </a:r>
            <a:endParaRPr lang="en-US" sz="1500" dirty="0"/>
          </a:p>
        </p:txBody>
      </p:sp>
      <p:sp>
        <p:nvSpPr>
          <p:cNvPr id="11" name="Text 9"/>
          <p:cNvSpPr/>
          <p:nvPr/>
        </p:nvSpPr>
        <p:spPr>
          <a:xfrm>
            <a:off x="548640" y="5532120"/>
            <a:ext cx="10058400" cy="822960"/>
          </a:xfrm>
          <a:prstGeom prst="rect">
            <a:avLst/>
          </a:prstGeom>
          <a:noFill/>
          <a:ln/>
        </p:spPr>
        <p:txBody>
          <a:bodyPr wrap="square" lIns="0" tIns="0" rIns="0" bIns="0" rtlCol="0" anchor="ctr"/>
          <a:lstStyle/>
          <a:p>
            <a:pPr indent="0" marL="0">
              <a:spcAft>
                <a:spcPts val="300"/>
              </a:spcAft>
              <a:buNone/>
            </a:pPr>
            <a:r>
              <a:rPr lang="en-US" sz="2200" b="1" dirty="0">
                <a:solidFill>
                  <a:srgbClr val="D97706"/>
                </a:solidFill>
                <a:latin typeface="Helvetica Neue" pitchFamily="34" charset="0"/>
                <a:ea typeface="Helvetica Neue" pitchFamily="34" charset="-122"/>
                <a:cs typeface="Helvetica Neue" pitchFamily="34" charset="-120"/>
              </a:rPr>
              <a:t>http://10.64.168.98</a:t>
            </a:r>
            <a:endParaRPr lang="en-US" sz="2200" dirty="0"/>
          </a:p>
          <a:p>
            <a:pPr indent="0" marL="0">
              <a:spcAft>
                <a:spcPts val="300"/>
              </a:spcAft>
              <a:buNone/>
            </a:pPr>
            <a:r>
              <a:rPr lang="en-US" sz="1200" dirty="0">
                <a:solidFill>
                  <a:srgbClr val="CBD5E1"/>
                </a:solidFill>
                <a:latin typeface="Helvetica Neue" pitchFamily="34" charset="0"/>
                <a:ea typeface="Helvetica Neue" pitchFamily="34" charset="-122"/>
                <a:cs typeface="Helvetica Neue" pitchFamily="34" charset="-120"/>
              </a:rPr>
              <a:t>live now on the lab intranet — every one of you is invited to test it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02</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WHY WE BUILT IT</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Downstream analysis is where 2bRAD projects stall</a:t>
            </a:r>
            <a:endParaRPr lang="en-US" sz="2900" dirty="0"/>
          </a:p>
        </p:txBody>
      </p:sp>
      <p:sp>
        <p:nvSpPr>
          <p:cNvPr id="5" name="Text 3"/>
          <p:cNvSpPr/>
          <p:nvPr/>
        </p:nvSpPr>
        <p:spPr>
          <a:xfrm>
            <a:off x="548640" y="1874520"/>
            <a:ext cx="6217920" cy="1097280"/>
          </a:xfrm>
          <a:prstGeom prst="rect">
            <a:avLst/>
          </a:prstGeom>
          <a:noFill/>
          <a:ln/>
        </p:spPr>
        <p:txBody>
          <a:bodyPr wrap="square" lIns="0" tIns="0" rIns="0" bIns="0" rtlCol="0" anchor="t"/>
          <a:lstStyle/>
          <a:p>
            <a:pPr indent="0" marL="0">
              <a:lnSpc>
                <a:spcPct val="112000"/>
              </a:lnSpc>
              <a:spcAft>
                <a:spcPts val="500"/>
              </a:spcAft>
              <a:buNone/>
            </a:pPr>
            <a:r>
              <a:rPr lang="en-US" sz="1700" b="1" dirty="0">
                <a:solidFill>
                  <a:srgbClr val="0F172A"/>
                </a:solidFill>
                <a:latin typeface="Helvetica Neue" pitchFamily="34" charset="0"/>
                <a:ea typeface="Helvetica Neue" pitchFamily="34" charset="-122"/>
                <a:cs typeface="Helvetica Neue" pitchFamily="34" charset="-120"/>
              </a:rPr>
              <a:t>A fragmented toolchain</a:t>
            </a:r>
            <a:endParaRPr lang="en-US" sz="1700" dirty="0"/>
          </a:p>
          <a:p>
            <a:pPr indent="0" marL="0">
              <a:lnSpc>
                <a:spcPct val="112000"/>
              </a:lnSpc>
              <a:spcAft>
                <a:spcPts val="500"/>
              </a:spcAft>
              <a:buNone/>
            </a:pPr>
            <a:r>
              <a:rPr lang="en-US" sz="1200" dirty="0">
                <a:solidFill>
                  <a:srgbClr val="64748B"/>
                </a:solidFill>
                <a:latin typeface="Helvetica Neue" pitchFamily="34" charset="0"/>
                <a:ea typeface="Helvetica Neue" pitchFamily="34" charset="-122"/>
                <a:cs typeface="Helvetica Neue" pitchFamily="34" charset="-120"/>
              </a:rPr>
              <a:t>one figure means moving tables through QIIME, R scripts and ad-hoc Python — every hand-off is a chance to break sample names or normalization.</a:t>
            </a:r>
            <a:endParaRPr lang="en-US" sz="1700" dirty="0"/>
          </a:p>
        </p:txBody>
      </p:sp>
      <p:sp>
        <p:nvSpPr>
          <p:cNvPr id="6" name="Shape 4"/>
          <p:cNvSpPr/>
          <p:nvPr/>
        </p:nvSpPr>
        <p:spPr>
          <a:xfrm>
            <a:off x="548640" y="2971800"/>
            <a:ext cx="6217920" cy="0"/>
          </a:xfrm>
          <a:prstGeom prst="line">
            <a:avLst/>
          </a:prstGeom>
          <a:noFill/>
          <a:ln w="12700">
            <a:solidFill>
              <a:srgbClr val="E2E8F0"/>
            </a:solidFill>
            <a:prstDash val="solid"/>
          </a:ln>
        </p:spPr>
        <p:txBody>
          <a:bodyPr/>
          <a:p/>
        </p:txBody>
      </p:sp>
      <p:sp>
        <p:nvSpPr>
          <p:cNvPr id="7" name="Text 5"/>
          <p:cNvSpPr/>
          <p:nvPr/>
        </p:nvSpPr>
        <p:spPr>
          <a:xfrm>
            <a:off x="548640" y="3172968"/>
            <a:ext cx="6217920" cy="1097280"/>
          </a:xfrm>
          <a:prstGeom prst="rect">
            <a:avLst/>
          </a:prstGeom>
          <a:noFill/>
          <a:ln/>
        </p:spPr>
        <p:txBody>
          <a:bodyPr wrap="square" lIns="0" tIns="0" rIns="0" bIns="0" rtlCol="0" anchor="t"/>
          <a:lstStyle/>
          <a:p>
            <a:pPr indent="0" marL="0">
              <a:lnSpc>
                <a:spcPct val="112000"/>
              </a:lnSpc>
              <a:spcAft>
                <a:spcPts val="500"/>
              </a:spcAft>
              <a:buNone/>
            </a:pPr>
            <a:r>
              <a:rPr lang="en-US" sz="1700" b="1" dirty="0">
                <a:solidFill>
                  <a:srgbClr val="0F172A"/>
                </a:solidFill>
                <a:latin typeface="Helvetica Neue" pitchFamily="34" charset="0"/>
                <a:ea typeface="Helvetica Neue" pitchFamily="34" charset="-122"/>
                <a:cs typeface="Helvetica Neue" pitchFamily="34" charset="-120"/>
              </a:rPr>
              <a:t>A coding barrier</a:t>
            </a:r>
            <a:endParaRPr lang="en-US" sz="1700" dirty="0"/>
          </a:p>
          <a:p>
            <a:pPr indent="0" marL="0">
              <a:lnSpc>
                <a:spcPct val="112000"/>
              </a:lnSpc>
              <a:spcAft>
                <a:spcPts val="500"/>
              </a:spcAft>
              <a:buNone/>
            </a:pPr>
            <a:r>
              <a:rPr lang="en-US" sz="1200" dirty="0">
                <a:solidFill>
                  <a:srgbClr val="64748B"/>
                </a:solidFill>
                <a:latin typeface="Helvetica Neue" pitchFamily="34" charset="0"/>
                <a:ea typeface="Helvetica Neue" pitchFamily="34" charset="-122"/>
                <a:cs typeface="Helvetica Neue" pitchFamily="34" charset="-120"/>
              </a:rPr>
              <a:t>the people who generate the data can't run the statistics; every analysis queues behind one person who writes the scripts.</a:t>
            </a:r>
            <a:endParaRPr lang="en-US" sz="1700" dirty="0"/>
          </a:p>
        </p:txBody>
      </p:sp>
      <p:sp>
        <p:nvSpPr>
          <p:cNvPr id="8" name="Shape 6"/>
          <p:cNvSpPr/>
          <p:nvPr/>
        </p:nvSpPr>
        <p:spPr>
          <a:xfrm>
            <a:off x="548640" y="4270248"/>
            <a:ext cx="6217920" cy="0"/>
          </a:xfrm>
          <a:prstGeom prst="line">
            <a:avLst/>
          </a:prstGeom>
          <a:noFill/>
          <a:ln w="12700">
            <a:solidFill>
              <a:srgbClr val="E2E8F0"/>
            </a:solidFill>
            <a:prstDash val="solid"/>
          </a:ln>
        </p:spPr>
        <p:txBody>
          <a:bodyPr/>
          <a:p/>
        </p:txBody>
      </p:sp>
      <p:sp>
        <p:nvSpPr>
          <p:cNvPr id="9" name="Text 7"/>
          <p:cNvSpPr/>
          <p:nvPr/>
        </p:nvSpPr>
        <p:spPr>
          <a:xfrm>
            <a:off x="548640" y="4471416"/>
            <a:ext cx="6217920" cy="1097280"/>
          </a:xfrm>
          <a:prstGeom prst="rect">
            <a:avLst/>
          </a:prstGeom>
          <a:noFill/>
          <a:ln/>
        </p:spPr>
        <p:txBody>
          <a:bodyPr wrap="square" lIns="0" tIns="0" rIns="0" bIns="0" rtlCol="0" anchor="t"/>
          <a:lstStyle/>
          <a:p>
            <a:pPr indent="0" marL="0">
              <a:lnSpc>
                <a:spcPct val="112000"/>
              </a:lnSpc>
              <a:spcAft>
                <a:spcPts val="500"/>
              </a:spcAft>
              <a:buNone/>
            </a:pPr>
            <a:r>
              <a:rPr lang="en-US" sz="1700" b="1" dirty="0">
                <a:solidFill>
                  <a:srgbClr val="0F172A"/>
                </a:solidFill>
                <a:latin typeface="Helvetica Neue" pitchFamily="34" charset="0"/>
                <a:ea typeface="Helvetica Neue" pitchFamily="34" charset="-122"/>
                <a:cs typeface="Helvetica Neue" pitchFamily="34" charset="-120"/>
              </a:rPr>
              <a:t>Inconsistent methods</a:t>
            </a:r>
            <a:endParaRPr lang="en-US" sz="1700" dirty="0"/>
          </a:p>
          <a:p>
            <a:pPr indent="0" marL="0">
              <a:lnSpc>
                <a:spcPct val="112000"/>
              </a:lnSpc>
              <a:spcAft>
                <a:spcPts val="500"/>
              </a:spcAft>
              <a:buNone/>
            </a:pPr>
            <a:r>
              <a:rPr lang="en-US" sz="1200" dirty="0">
                <a:solidFill>
                  <a:srgbClr val="64748B"/>
                </a:solidFill>
                <a:latin typeface="Helvetica Neue" pitchFamily="34" charset="0"/>
                <a:ea typeface="Helvetica Neue" pitchFamily="34" charset="-122"/>
                <a:cs typeface="Helvetica Neue" pitchFamily="34" charset="-120"/>
              </a:rPr>
              <a:t>tests, filters and parameters drift from project to project — results stop being comparable across the lab.</a:t>
            </a:r>
            <a:endParaRPr lang="en-US" sz="1700" dirty="0"/>
          </a:p>
        </p:txBody>
      </p:sp>
      <p:sp>
        <p:nvSpPr>
          <p:cNvPr id="10" name="Shape 8"/>
          <p:cNvSpPr/>
          <p:nvPr/>
        </p:nvSpPr>
        <p:spPr>
          <a:xfrm>
            <a:off x="7452360" y="1828800"/>
            <a:ext cx="1737360" cy="566928"/>
          </a:xfrm>
          <a:prstGeom prst="roundRect">
            <a:avLst>
              <a:gd name="adj" fmla="val 9677"/>
            </a:avLst>
          </a:prstGeom>
          <a:solidFill>
            <a:srgbClr val="FFFFFF"/>
          </a:solidFill>
          <a:ln w="12700">
            <a:solidFill>
              <a:srgbClr val="E2E8F0"/>
            </a:solidFill>
            <a:prstDash val="solid"/>
          </a:ln>
        </p:spPr>
        <p:txBody>
          <a:bodyPr/>
          <a:p/>
        </p:txBody>
      </p:sp>
      <p:sp>
        <p:nvSpPr>
          <p:cNvPr id="11" name="Text 9"/>
          <p:cNvSpPr/>
          <p:nvPr/>
        </p:nvSpPr>
        <p:spPr>
          <a:xfrm>
            <a:off x="7452360" y="1828800"/>
            <a:ext cx="1737360" cy="566928"/>
          </a:xfrm>
          <a:prstGeom prst="rect">
            <a:avLst/>
          </a:prstGeom>
          <a:noFill/>
          <a:ln/>
        </p:spPr>
        <p:txBody>
          <a:bodyPr wrap="square" lIns="0" tIns="0" rIns="0" bIns="0" rtlCol="0" anchor="ctr"/>
          <a:lstStyle/>
          <a:p>
            <a:pPr algn="ctr" indent="0" marL="0">
              <a:buNone/>
            </a:pPr>
            <a:r>
              <a:rPr lang="en-US" sz="1250" dirty="0">
                <a:solidFill>
                  <a:srgbClr val="64748B"/>
                </a:solidFill>
                <a:latin typeface="Helvetica Neue" pitchFamily="34" charset="0"/>
                <a:ea typeface="Helvetica Neue" pitchFamily="34" charset="-122"/>
                <a:cs typeface="Helvetica Neue" pitchFamily="34" charset="-120"/>
              </a:rPr>
              <a:t>QIIME</a:t>
            </a:r>
            <a:endParaRPr lang="en-US" sz="1250" dirty="0"/>
          </a:p>
        </p:txBody>
      </p:sp>
      <p:sp>
        <p:nvSpPr>
          <p:cNvPr id="12" name="Shape 10"/>
          <p:cNvSpPr/>
          <p:nvPr/>
        </p:nvSpPr>
        <p:spPr>
          <a:xfrm>
            <a:off x="9784080" y="1691640"/>
            <a:ext cx="1737360" cy="566928"/>
          </a:xfrm>
          <a:prstGeom prst="roundRect">
            <a:avLst>
              <a:gd name="adj" fmla="val 9677"/>
            </a:avLst>
          </a:prstGeom>
          <a:solidFill>
            <a:srgbClr val="FFFFFF"/>
          </a:solidFill>
          <a:ln w="12700">
            <a:solidFill>
              <a:srgbClr val="E2E8F0"/>
            </a:solidFill>
            <a:prstDash val="solid"/>
          </a:ln>
        </p:spPr>
        <p:txBody>
          <a:bodyPr/>
          <a:p/>
        </p:txBody>
      </p:sp>
      <p:sp>
        <p:nvSpPr>
          <p:cNvPr id="13" name="Text 11"/>
          <p:cNvSpPr/>
          <p:nvPr/>
        </p:nvSpPr>
        <p:spPr>
          <a:xfrm>
            <a:off x="9784080" y="1691640"/>
            <a:ext cx="1737360" cy="566928"/>
          </a:xfrm>
          <a:prstGeom prst="rect">
            <a:avLst/>
          </a:prstGeom>
          <a:noFill/>
          <a:ln/>
        </p:spPr>
        <p:txBody>
          <a:bodyPr wrap="square" lIns="0" tIns="0" rIns="0" bIns="0" rtlCol="0" anchor="ctr"/>
          <a:lstStyle/>
          <a:p>
            <a:pPr algn="ctr" indent="0" marL="0">
              <a:buNone/>
            </a:pPr>
            <a:r>
              <a:rPr lang="en-US" sz="1250" dirty="0">
                <a:solidFill>
                  <a:srgbClr val="64748B"/>
                </a:solidFill>
                <a:latin typeface="Helvetica Neue" pitchFamily="34" charset="0"/>
                <a:ea typeface="Helvetica Neue" pitchFamily="34" charset="-122"/>
                <a:cs typeface="Helvetica Neue" pitchFamily="34" charset="-120"/>
              </a:rPr>
              <a:t>R scripts</a:t>
            </a:r>
            <a:endParaRPr lang="en-US" sz="1250" dirty="0"/>
          </a:p>
        </p:txBody>
      </p:sp>
      <p:sp>
        <p:nvSpPr>
          <p:cNvPr id="14" name="Shape 12"/>
          <p:cNvSpPr/>
          <p:nvPr/>
        </p:nvSpPr>
        <p:spPr>
          <a:xfrm>
            <a:off x="7635240" y="2880360"/>
            <a:ext cx="1737360" cy="566928"/>
          </a:xfrm>
          <a:prstGeom prst="roundRect">
            <a:avLst>
              <a:gd name="adj" fmla="val 9677"/>
            </a:avLst>
          </a:prstGeom>
          <a:solidFill>
            <a:srgbClr val="FFFFFF"/>
          </a:solidFill>
          <a:ln w="12700">
            <a:solidFill>
              <a:srgbClr val="E2E8F0"/>
            </a:solidFill>
            <a:prstDash val="solid"/>
          </a:ln>
        </p:spPr>
        <p:txBody>
          <a:bodyPr/>
          <a:p/>
        </p:txBody>
      </p:sp>
      <p:sp>
        <p:nvSpPr>
          <p:cNvPr id="15" name="Text 13"/>
          <p:cNvSpPr/>
          <p:nvPr/>
        </p:nvSpPr>
        <p:spPr>
          <a:xfrm>
            <a:off x="7635240" y="2880360"/>
            <a:ext cx="1737360" cy="566928"/>
          </a:xfrm>
          <a:prstGeom prst="rect">
            <a:avLst/>
          </a:prstGeom>
          <a:noFill/>
          <a:ln/>
        </p:spPr>
        <p:txBody>
          <a:bodyPr wrap="square" lIns="0" tIns="0" rIns="0" bIns="0" rtlCol="0" anchor="ctr"/>
          <a:lstStyle/>
          <a:p>
            <a:pPr algn="ctr" indent="0" marL="0">
              <a:buNone/>
            </a:pPr>
            <a:r>
              <a:rPr lang="en-US" sz="1250" dirty="0">
                <a:solidFill>
                  <a:srgbClr val="64748B"/>
                </a:solidFill>
                <a:latin typeface="Helvetica Neue" pitchFamily="34" charset="0"/>
                <a:ea typeface="Helvetica Neue" pitchFamily="34" charset="-122"/>
                <a:cs typeface="Helvetica Neue" pitchFamily="34" charset="-120"/>
              </a:rPr>
              <a:t>Python</a:t>
            </a:r>
            <a:endParaRPr lang="en-US" sz="1250" dirty="0"/>
          </a:p>
        </p:txBody>
      </p:sp>
      <p:sp>
        <p:nvSpPr>
          <p:cNvPr id="16" name="Shape 14"/>
          <p:cNvSpPr/>
          <p:nvPr/>
        </p:nvSpPr>
        <p:spPr>
          <a:xfrm>
            <a:off x="9921240" y="3063240"/>
            <a:ext cx="1737360" cy="566928"/>
          </a:xfrm>
          <a:prstGeom prst="roundRect">
            <a:avLst>
              <a:gd name="adj" fmla="val 9677"/>
            </a:avLst>
          </a:prstGeom>
          <a:solidFill>
            <a:srgbClr val="FFFFFF"/>
          </a:solidFill>
          <a:ln w="12700">
            <a:solidFill>
              <a:srgbClr val="E2E8F0"/>
            </a:solidFill>
            <a:prstDash val="solid"/>
          </a:ln>
        </p:spPr>
        <p:txBody>
          <a:bodyPr/>
          <a:p/>
        </p:txBody>
      </p:sp>
      <p:sp>
        <p:nvSpPr>
          <p:cNvPr id="17" name="Text 15"/>
          <p:cNvSpPr/>
          <p:nvPr/>
        </p:nvSpPr>
        <p:spPr>
          <a:xfrm>
            <a:off x="9921240" y="3063240"/>
            <a:ext cx="1737360" cy="566928"/>
          </a:xfrm>
          <a:prstGeom prst="rect">
            <a:avLst/>
          </a:prstGeom>
          <a:noFill/>
          <a:ln/>
        </p:spPr>
        <p:txBody>
          <a:bodyPr wrap="square" lIns="0" tIns="0" rIns="0" bIns="0" rtlCol="0" anchor="ctr"/>
          <a:lstStyle/>
          <a:p>
            <a:pPr algn="ctr" indent="0" marL="0">
              <a:buNone/>
            </a:pPr>
            <a:r>
              <a:rPr lang="en-US" sz="1250" dirty="0">
                <a:solidFill>
                  <a:srgbClr val="64748B"/>
                </a:solidFill>
                <a:latin typeface="Helvetica Neue" pitchFamily="34" charset="0"/>
                <a:ea typeface="Helvetica Neue" pitchFamily="34" charset="-122"/>
                <a:cs typeface="Helvetica Neue" pitchFamily="34" charset="-120"/>
              </a:rPr>
              <a:t>spreadsheets</a:t>
            </a:r>
            <a:endParaRPr lang="en-US" sz="1250" dirty="0"/>
          </a:p>
        </p:txBody>
      </p:sp>
      <p:sp>
        <p:nvSpPr>
          <p:cNvPr id="18" name="Shape 16"/>
          <p:cNvSpPr/>
          <p:nvPr/>
        </p:nvSpPr>
        <p:spPr>
          <a:xfrm>
            <a:off x="8321040" y="2395728"/>
            <a:ext cx="320040" cy="1051560"/>
          </a:xfrm>
          <a:prstGeom prst="line">
            <a:avLst/>
          </a:prstGeom>
          <a:noFill/>
          <a:ln w="19050">
            <a:solidFill>
              <a:srgbClr val="0F766E"/>
            </a:solidFill>
            <a:prstDash val="solid"/>
          </a:ln>
        </p:spPr>
        <p:txBody>
          <a:bodyPr/>
          <a:p/>
        </p:txBody>
      </p:sp>
      <p:sp>
        <p:nvSpPr>
          <p:cNvPr id="19" name="Shape 17"/>
          <p:cNvSpPr/>
          <p:nvPr/>
        </p:nvSpPr>
        <p:spPr>
          <a:xfrm>
            <a:off x="9784080" y="2258568"/>
            <a:ext cx="-320040" cy="1188720"/>
          </a:xfrm>
          <a:prstGeom prst="line">
            <a:avLst/>
          </a:prstGeom>
          <a:noFill/>
          <a:ln w="19050">
            <a:solidFill>
              <a:srgbClr val="0F766E"/>
            </a:solidFill>
            <a:prstDash val="solid"/>
          </a:ln>
        </p:spPr>
        <p:txBody>
          <a:bodyPr/>
          <a:p/>
        </p:txBody>
      </p:sp>
      <p:sp>
        <p:nvSpPr>
          <p:cNvPr id="20" name="Shape 18"/>
          <p:cNvSpPr/>
          <p:nvPr/>
        </p:nvSpPr>
        <p:spPr>
          <a:xfrm>
            <a:off x="8503920" y="3447288"/>
            <a:ext cx="-91440" cy="45720"/>
          </a:xfrm>
          <a:prstGeom prst="line">
            <a:avLst/>
          </a:prstGeom>
          <a:noFill/>
          <a:ln w="19050">
            <a:solidFill>
              <a:srgbClr val="0F766E"/>
            </a:solidFill>
            <a:prstDash val="solid"/>
          </a:ln>
        </p:spPr>
        <p:txBody>
          <a:bodyPr/>
          <a:p/>
        </p:txBody>
      </p:sp>
      <p:sp>
        <p:nvSpPr>
          <p:cNvPr id="21" name="Shape 19"/>
          <p:cNvSpPr/>
          <p:nvPr/>
        </p:nvSpPr>
        <p:spPr>
          <a:xfrm>
            <a:off x="9921240" y="3630168"/>
            <a:ext cx="-548640" cy="-137160"/>
          </a:xfrm>
          <a:prstGeom prst="line">
            <a:avLst/>
          </a:prstGeom>
          <a:noFill/>
          <a:ln w="19050">
            <a:solidFill>
              <a:srgbClr val="0F766E"/>
            </a:solidFill>
            <a:prstDash val="solid"/>
          </a:ln>
        </p:spPr>
        <p:txBody>
          <a:bodyPr/>
          <a:p/>
        </p:txBody>
      </p:sp>
      <p:sp>
        <p:nvSpPr>
          <p:cNvPr id="22" name="Shape 20"/>
          <p:cNvSpPr/>
          <p:nvPr/>
        </p:nvSpPr>
        <p:spPr>
          <a:xfrm>
            <a:off x="7863840" y="3977640"/>
            <a:ext cx="3108960" cy="960120"/>
          </a:xfrm>
          <a:prstGeom prst="roundRect">
            <a:avLst>
              <a:gd name="adj" fmla="val 7619"/>
            </a:avLst>
          </a:prstGeom>
          <a:solidFill>
            <a:srgbClr val="0F766E"/>
          </a:solidFill>
          <a:ln/>
          <a:effectLst>
            <a:outerShdw sx="100000" sy="100000" kx="0" ky="0" algn="bl" rotWithShape="0" blurRad="88900" dist="25400" dir="2700000">
              <a:srgbClr val="94A3B8">
                <a:alpha val="32000"/>
              </a:srgbClr>
            </a:outerShdw>
          </a:effectLst>
        </p:spPr>
        <p:txBody>
          <a:bodyPr/>
          <a:p/>
        </p:txBody>
      </p:sp>
      <p:sp>
        <p:nvSpPr>
          <p:cNvPr id="23" name="Text 21"/>
          <p:cNvSpPr/>
          <p:nvPr/>
        </p:nvSpPr>
        <p:spPr>
          <a:xfrm>
            <a:off x="7863840" y="3977640"/>
            <a:ext cx="3108960"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Meta2bAnalyst</a:t>
            </a:r>
            <a:endParaRPr lang="en-US" sz="1400" dirty="0"/>
          </a:p>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one platform, one workflow</a:t>
            </a:r>
            <a:endParaRPr lang="en-US" sz="1400" dirty="0"/>
          </a:p>
        </p:txBody>
      </p:sp>
      <p:sp>
        <p:nvSpPr>
          <p:cNvPr id="24" name="Text 22"/>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i="1" dirty="0">
                <a:solidFill>
                  <a:srgbClr val="64748B"/>
                </a:solidFill>
                <a:latin typeface="Helvetica Neue" pitchFamily="34" charset="0"/>
                <a:ea typeface="Helvetica Neue" pitchFamily="34" charset="-122"/>
                <a:cs typeface="Helvetica Neue" pitchFamily="34" charset="-120"/>
              </a:rPr>
              <a:t>Sound familiar? These are the three complaints that came up every time we discussed downstream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03</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THE PLATFORM</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One web workflow — from upload to export</a:t>
            </a:r>
            <a:endParaRPr lang="en-US" sz="2900" dirty="0"/>
          </a:p>
        </p:txBody>
      </p:sp>
      <p:sp>
        <p:nvSpPr>
          <p:cNvPr id="5" name="Text 3"/>
          <p:cNvSpPr/>
          <p:nvPr/>
        </p:nvSpPr>
        <p:spPr>
          <a:xfrm>
            <a:off x="548640" y="1810512"/>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01</a:t>
            </a:r>
            <a:endParaRPr lang="en-US" sz="2000" dirty="0"/>
          </a:p>
        </p:txBody>
      </p:sp>
      <p:sp>
        <p:nvSpPr>
          <p:cNvPr id="6" name="Text 4"/>
          <p:cNvSpPr/>
          <p:nvPr/>
        </p:nvSpPr>
        <p:spPr>
          <a:xfrm>
            <a:off x="1207008" y="1792224"/>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Upload</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drag in feature tables + metadata; format and sample validation runs automatically</a:t>
            </a:r>
            <a:endParaRPr lang="en-US" sz="1450" dirty="0"/>
          </a:p>
        </p:txBody>
      </p:sp>
      <p:sp>
        <p:nvSpPr>
          <p:cNvPr id="7" name="Text 5"/>
          <p:cNvSpPr/>
          <p:nvPr/>
        </p:nvSpPr>
        <p:spPr>
          <a:xfrm>
            <a:off x="548640" y="2596896"/>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02</a:t>
            </a:r>
            <a:endParaRPr lang="en-US" sz="2000" dirty="0"/>
          </a:p>
        </p:txBody>
      </p:sp>
      <p:sp>
        <p:nvSpPr>
          <p:cNvPr id="8" name="Text 6"/>
          <p:cNvSpPr/>
          <p:nvPr/>
        </p:nvSpPr>
        <p:spPr>
          <a:xfrm>
            <a:off x="1207008" y="2578608"/>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Inspect</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sample matching, library sizes, sparsity, group balance — checked before any analysis</a:t>
            </a:r>
            <a:endParaRPr lang="en-US" sz="1450" dirty="0"/>
          </a:p>
        </p:txBody>
      </p:sp>
      <p:sp>
        <p:nvSpPr>
          <p:cNvPr id="9" name="Text 7"/>
          <p:cNvSpPr/>
          <p:nvPr/>
        </p:nvSpPr>
        <p:spPr>
          <a:xfrm>
            <a:off x="548640" y="3383280"/>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03</a:t>
            </a:r>
            <a:endParaRPr lang="en-US" sz="2000" dirty="0"/>
          </a:p>
        </p:txBody>
      </p:sp>
      <p:sp>
        <p:nvSpPr>
          <p:cNvPr id="10" name="Text 8"/>
          <p:cNvSpPr/>
          <p:nvPr/>
        </p:nvSpPr>
        <p:spPr>
          <a:xfrm>
            <a:off x="1207008" y="3364992"/>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Analyze</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pick analysis modules yourself, or let the built-in Agent plan the whole run</a:t>
            </a:r>
            <a:endParaRPr lang="en-US" sz="1450" dirty="0"/>
          </a:p>
        </p:txBody>
      </p:sp>
      <p:sp>
        <p:nvSpPr>
          <p:cNvPr id="11" name="Text 9"/>
          <p:cNvSpPr/>
          <p:nvPr/>
        </p:nvSpPr>
        <p:spPr>
          <a:xfrm>
            <a:off x="548640" y="4169664"/>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04</a:t>
            </a:r>
            <a:endParaRPr lang="en-US" sz="2000" dirty="0"/>
          </a:p>
        </p:txBody>
      </p:sp>
      <p:sp>
        <p:nvSpPr>
          <p:cNvPr id="12" name="Text 10"/>
          <p:cNvSpPr/>
          <p:nvPr/>
        </p:nvSpPr>
        <p:spPr>
          <a:xfrm>
            <a:off x="1207008" y="4151376"/>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Interpret</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every figure comes with a written interpretation grounded in the method knowledge base</a:t>
            </a:r>
            <a:endParaRPr lang="en-US" sz="1450" dirty="0"/>
          </a:p>
        </p:txBody>
      </p:sp>
      <p:sp>
        <p:nvSpPr>
          <p:cNvPr id="13" name="Text 11"/>
          <p:cNvSpPr/>
          <p:nvPr/>
        </p:nvSpPr>
        <p:spPr>
          <a:xfrm>
            <a:off x="548640" y="4956048"/>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05</a:t>
            </a:r>
            <a:endParaRPr lang="en-US" sz="2000" dirty="0"/>
          </a:p>
        </p:txBody>
      </p:sp>
      <p:sp>
        <p:nvSpPr>
          <p:cNvPr id="14" name="Text 12"/>
          <p:cNvSpPr/>
          <p:nvPr/>
        </p:nvSpPr>
        <p:spPr>
          <a:xfrm>
            <a:off x="1207008" y="4937760"/>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Export</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figures as PNG / SVG, results as tables — ready for the manuscript</a:t>
            </a:r>
            <a:endParaRPr lang="en-US" sz="1450" dirty="0"/>
          </a:p>
        </p:txBody>
      </p:sp>
      <p:sp>
        <p:nvSpPr>
          <p:cNvPr id="15" name="Shape 13"/>
          <p:cNvSpPr/>
          <p:nvPr/>
        </p:nvSpPr>
        <p:spPr>
          <a:xfrm>
            <a:off x="548640" y="5870448"/>
            <a:ext cx="5120640" cy="566928"/>
          </a:xfrm>
          <a:prstGeom prst="roundRect">
            <a:avLst>
              <a:gd name="adj" fmla="val 8065"/>
            </a:avLst>
          </a:prstGeom>
          <a:solidFill>
            <a:srgbClr val="E7F1EF"/>
          </a:solidFill>
          <a:ln/>
        </p:spPr>
        <p:txBody>
          <a:bodyPr/>
          <a:p/>
        </p:txBody>
      </p:sp>
      <p:sp>
        <p:nvSpPr>
          <p:cNvPr id="16" name="Text 14"/>
          <p:cNvSpPr/>
          <p:nvPr/>
        </p:nvSpPr>
        <p:spPr>
          <a:xfrm>
            <a:off x="713232" y="5870448"/>
            <a:ext cx="4846320" cy="566928"/>
          </a:xfrm>
          <a:prstGeom prst="rect">
            <a:avLst/>
          </a:prstGeom>
          <a:noFill/>
          <a:ln/>
        </p:spPr>
        <p:txBody>
          <a:bodyPr wrap="square" lIns="0" tIns="0" rIns="0" bIns="0" rtlCol="0" anchor="ctr"/>
          <a:lstStyle/>
          <a:p>
            <a:pPr indent="0" marL="0">
              <a:buNone/>
            </a:pPr>
            <a:r>
              <a:rPr lang="en-US" sz="1050" b="1" dirty="0">
                <a:solidFill>
                  <a:srgbClr val="0F766E"/>
                </a:solidFill>
                <a:latin typeface="Helvetica Neue" pitchFamily="34" charset="0"/>
                <a:ea typeface="Helvetica Neue" pitchFamily="34" charset="-122"/>
                <a:cs typeface="Helvetica Neue" pitchFamily="34" charset="-120"/>
              </a:rPr>
              <a:t>Real statistics, not approximations — DESeq2, edgeR, ANCOMBC, ALDEx2, mixOmics run on a genuine R engine.</a:t>
            </a:r>
            <a:endParaRPr lang="en-US" sz="1050" dirty="0"/>
          </a:p>
        </p:txBody>
      </p:sp>
      <p:sp>
        <p:nvSpPr>
          <p:cNvPr id="17" name="Shape 15"/>
          <p:cNvSpPr/>
          <p:nvPr/>
        </p:nvSpPr>
        <p:spPr>
          <a:xfrm>
            <a:off x="6089904" y="1700784"/>
            <a:ext cx="5605272" cy="3565017"/>
          </a:xfrm>
          <a:prstGeom prst="roundRect">
            <a:avLst>
              <a:gd name="adj" fmla="val 1539"/>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pic>
        <p:nvPicPr>
          <p:cNvPr id="18" name="Image 0" descr="assets/home.png">    </p:cNvPr>
          <p:cNvPicPr>
            <a:picLocks noChangeAspect="1"/>
          </p:cNvPicPr>
          <p:nvPr/>
        </p:nvPicPr>
        <p:blipFill>
          <a:blip r:embed="rId1"/>
          <a:stretch>
            <a:fillRect/>
          </a:stretch>
        </p:blipFill>
        <p:spPr>
          <a:xfrm>
            <a:off x="6172200" y="1783080"/>
            <a:ext cx="5440680" cy="34004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04</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DATA IN</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Bring your data as-is</a:t>
            </a:r>
            <a:endParaRPr lang="en-US" sz="2900" dirty="0"/>
          </a:p>
        </p:txBody>
      </p:sp>
      <p:sp>
        <p:nvSpPr>
          <p:cNvPr id="5" name="Shape 3"/>
          <p:cNvSpPr/>
          <p:nvPr/>
        </p:nvSpPr>
        <p:spPr>
          <a:xfrm>
            <a:off x="548640" y="1783080"/>
            <a:ext cx="2377440" cy="512064"/>
          </a:xfrm>
          <a:prstGeom prst="roundRect">
            <a:avLst>
              <a:gd name="adj" fmla="val 10714"/>
            </a:avLst>
          </a:prstGeom>
          <a:solidFill>
            <a:srgbClr val="FFFFFF"/>
          </a:solidFill>
          <a:ln w="12700">
            <a:solidFill>
              <a:srgbClr val="E2E8F0"/>
            </a:solidFill>
            <a:prstDash val="solid"/>
          </a:ln>
        </p:spPr>
        <p:txBody>
          <a:bodyPr/>
          <a:p/>
        </p:txBody>
      </p:sp>
      <p:sp>
        <p:nvSpPr>
          <p:cNvPr id="6" name="Text 4"/>
          <p:cNvSpPr/>
          <p:nvPr/>
        </p:nvSpPr>
        <p:spPr>
          <a:xfrm>
            <a:off x="548640" y="1783080"/>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2bRAD-M</a:t>
            </a:r>
            <a:endParaRPr lang="en-US" sz="1250" dirty="0"/>
          </a:p>
        </p:txBody>
      </p:sp>
      <p:sp>
        <p:nvSpPr>
          <p:cNvPr id="7" name="Shape 5"/>
          <p:cNvSpPr/>
          <p:nvPr/>
        </p:nvSpPr>
        <p:spPr>
          <a:xfrm>
            <a:off x="2926080" y="2039112"/>
            <a:ext cx="685800" cy="1069848"/>
          </a:xfrm>
          <a:prstGeom prst="line">
            <a:avLst/>
          </a:prstGeom>
          <a:noFill/>
          <a:ln w="15875">
            <a:solidFill>
              <a:srgbClr val="0F766E"/>
            </a:solidFill>
            <a:prstDash val="solid"/>
          </a:ln>
        </p:spPr>
        <p:txBody>
          <a:bodyPr/>
          <a:p/>
        </p:txBody>
      </p:sp>
      <p:sp>
        <p:nvSpPr>
          <p:cNvPr id="8" name="Shape 6"/>
          <p:cNvSpPr/>
          <p:nvPr/>
        </p:nvSpPr>
        <p:spPr>
          <a:xfrm>
            <a:off x="548640" y="2404872"/>
            <a:ext cx="2377440" cy="512064"/>
          </a:xfrm>
          <a:prstGeom prst="roundRect">
            <a:avLst>
              <a:gd name="adj" fmla="val 10714"/>
            </a:avLst>
          </a:prstGeom>
          <a:solidFill>
            <a:srgbClr val="FFFFFF"/>
          </a:solidFill>
          <a:ln w="12700">
            <a:solidFill>
              <a:srgbClr val="E2E8F0"/>
            </a:solidFill>
            <a:prstDash val="solid"/>
          </a:ln>
        </p:spPr>
        <p:txBody>
          <a:bodyPr/>
          <a:p/>
        </p:txBody>
      </p:sp>
      <p:sp>
        <p:nvSpPr>
          <p:cNvPr id="9" name="Text 7"/>
          <p:cNvSpPr/>
          <p:nvPr/>
        </p:nvSpPr>
        <p:spPr>
          <a:xfrm>
            <a:off x="548640" y="2404872"/>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Strain2bScan</a:t>
            </a:r>
            <a:endParaRPr lang="en-US" sz="1250" dirty="0"/>
          </a:p>
        </p:txBody>
      </p:sp>
      <p:sp>
        <p:nvSpPr>
          <p:cNvPr id="10" name="Shape 8"/>
          <p:cNvSpPr/>
          <p:nvPr/>
        </p:nvSpPr>
        <p:spPr>
          <a:xfrm>
            <a:off x="2926080" y="2660904"/>
            <a:ext cx="685800" cy="448056"/>
          </a:xfrm>
          <a:prstGeom prst="line">
            <a:avLst/>
          </a:prstGeom>
          <a:noFill/>
          <a:ln w="15875">
            <a:solidFill>
              <a:srgbClr val="0F766E"/>
            </a:solidFill>
            <a:prstDash val="solid"/>
          </a:ln>
        </p:spPr>
        <p:txBody>
          <a:bodyPr/>
          <a:p/>
        </p:txBody>
      </p:sp>
      <p:sp>
        <p:nvSpPr>
          <p:cNvPr id="11" name="Shape 9"/>
          <p:cNvSpPr/>
          <p:nvPr/>
        </p:nvSpPr>
        <p:spPr>
          <a:xfrm>
            <a:off x="548640" y="3026664"/>
            <a:ext cx="2377440" cy="512064"/>
          </a:xfrm>
          <a:prstGeom prst="roundRect">
            <a:avLst>
              <a:gd name="adj" fmla="val 10714"/>
            </a:avLst>
          </a:prstGeom>
          <a:solidFill>
            <a:srgbClr val="FFFFFF"/>
          </a:solidFill>
          <a:ln w="12700">
            <a:solidFill>
              <a:srgbClr val="E2E8F0"/>
            </a:solidFill>
            <a:prstDash val="solid"/>
          </a:ln>
        </p:spPr>
        <p:txBody>
          <a:bodyPr/>
          <a:p/>
        </p:txBody>
      </p:sp>
      <p:sp>
        <p:nvSpPr>
          <p:cNvPr id="12" name="Text 10"/>
          <p:cNvSpPr/>
          <p:nvPr/>
        </p:nvSpPr>
        <p:spPr>
          <a:xfrm>
            <a:off x="548640" y="3026664"/>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Tag2bMap</a:t>
            </a:r>
            <a:endParaRPr lang="en-US" sz="1250" dirty="0"/>
          </a:p>
        </p:txBody>
      </p:sp>
      <p:sp>
        <p:nvSpPr>
          <p:cNvPr id="13" name="Shape 11"/>
          <p:cNvSpPr/>
          <p:nvPr/>
        </p:nvSpPr>
        <p:spPr>
          <a:xfrm flipV="1">
            <a:off x="2926080" y="3108960"/>
            <a:ext cx="685800" cy="173736"/>
          </a:xfrm>
          <a:prstGeom prst="line">
            <a:avLst/>
          </a:prstGeom>
          <a:noFill/>
          <a:ln w="15875">
            <a:solidFill>
              <a:srgbClr val="0F766E"/>
            </a:solidFill>
            <a:prstDash val="solid"/>
          </a:ln>
        </p:spPr>
        <p:txBody>
          <a:bodyPr/>
          <a:p/>
        </p:txBody>
      </p:sp>
      <p:sp>
        <p:nvSpPr>
          <p:cNvPr id="14" name="Shape 12"/>
          <p:cNvSpPr/>
          <p:nvPr/>
        </p:nvSpPr>
        <p:spPr>
          <a:xfrm>
            <a:off x="548640" y="3648456"/>
            <a:ext cx="2377440" cy="512064"/>
          </a:xfrm>
          <a:prstGeom prst="roundRect">
            <a:avLst>
              <a:gd name="adj" fmla="val 10714"/>
            </a:avLst>
          </a:prstGeom>
          <a:solidFill>
            <a:srgbClr val="FFFFFF"/>
          </a:solidFill>
          <a:ln w="12700">
            <a:solidFill>
              <a:srgbClr val="E2E8F0"/>
            </a:solidFill>
            <a:prstDash val="solid"/>
          </a:ln>
        </p:spPr>
        <p:txBody>
          <a:bodyPr/>
          <a:p/>
        </p:txBody>
      </p:sp>
      <p:sp>
        <p:nvSpPr>
          <p:cNvPr id="15" name="Text 13"/>
          <p:cNvSpPr/>
          <p:nvPr/>
        </p:nvSpPr>
        <p:spPr>
          <a:xfrm>
            <a:off x="548640" y="3648456"/>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QIIME / BIOM</a:t>
            </a:r>
            <a:endParaRPr lang="en-US" sz="1250" dirty="0"/>
          </a:p>
        </p:txBody>
      </p:sp>
      <p:sp>
        <p:nvSpPr>
          <p:cNvPr id="16" name="Shape 14"/>
          <p:cNvSpPr/>
          <p:nvPr/>
        </p:nvSpPr>
        <p:spPr>
          <a:xfrm flipV="1">
            <a:off x="2926080" y="3108960"/>
            <a:ext cx="685800" cy="795528"/>
          </a:xfrm>
          <a:prstGeom prst="line">
            <a:avLst/>
          </a:prstGeom>
          <a:noFill/>
          <a:ln w="15875">
            <a:solidFill>
              <a:srgbClr val="0F766E"/>
            </a:solidFill>
            <a:prstDash val="solid"/>
          </a:ln>
        </p:spPr>
        <p:txBody>
          <a:bodyPr/>
          <a:p/>
        </p:txBody>
      </p:sp>
      <p:sp>
        <p:nvSpPr>
          <p:cNvPr id="17" name="Shape 15"/>
          <p:cNvSpPr/>
          <p:nvPr/>
        </p:nvSpPr>
        <p:spPr>
          <a:xfrm>
            <a:off x="548640" y="4270248"/>
            <a:ext cx="2377440" cy="512064"/>
          </a:xfrm>
          <a:prstGeom prst="roundRect">
            <a:avLst>
              <a:gd name="adj" fmla="val 10714"/>
            </a:avLst>
          </a:prstGeom>
          <a:solidFill>
            <a:srgbClr val="FFFFFF"/>
          </a:solidFill>
          <a:ln w="12700">
            <a:solidFill>
              <a:srgbClr val="E2E8F0"/>
            </a:solidFill>
            <a:prstDash val="solid"/>
          </a:ln>
        </p:spPr>
        <p:txBody>
          <a:bodyPr/>
          <a:p/>
        </p:txBody>
      </p:sp>
      <p:sp>
        <p:nvSpPr>
          <p:cNvPr id="18" name="Text 16"/>
          <p:cNvSpPr/>
          <p:nvPr/>
        </p:nvSpPr>
        <p:spPr>
          <a:xfrm>
            <a:off x="548640" y="4270248"/>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Mothur</a:t>
            </a:r>
            <a:endParaRPr lang="en-US" sz="1250" dirty="0"/>
          </a:p>
        </p:txBody>
      </p:sp>
      <p:sp>
        <p:nvSpPr>
          <p:cNvPr id="19" name="Shape 17"/>
          <p:cNvSpPr/>
          <p:nvPr/>
        </p:nvSpPr>
        <p:spPr>
          <a:xfrm flipV="1">
            <a:off x="2926080" y="3108960"/>
            <a:ext cx="685800" cy="1417320"/>
          </a:xfrm>
          <a:prstGeom prst="line">
            <a:avLst/>
          </a:prstGeom>
          <a:noFill/>
          <a:ln w="15875">
            <a:solidFill>
              <a:srgbClr val="0F766E"/>
            </a:solidFill>
            <a:prstDash val="solid"/>
          </a:ln>
        </p:spPr>
        <p:txBody>
          <a:bodyPr/>
          <a:p/>
        </p:txBody>
      </p:sp>
      <p:sp>
        <p:nvSpPr>
          <p:cNvPr id="20" name="Shape 18"/>
          <p:cNvSpPr/>
          <p:nvPr/>
        </p:nvSpPr>
        <p:spPr>
          <a:xfrm>
            <a:off x="548640" y="4892040"/>
            <a:ext cx="2377440" cy="512064"/>
          </a:xfrm>
          <a:prstGeom prst="roundRect">
            <a:avLst>
              <a:gd name="adj" fmla="val 10714"/>
            </a:avLst>
          </a:prstGeom>
          <a:solidFill>
            <a:srgbClr val="FFFFFF"/>
          </a:solidFill>
          <a:ln w="12700">
            <a:solidFill>
              <a:srgbClr val="E2E8F0"/>
            </a:solidFill>
            <a:prstDash val="solid"/>
          </a:ln>
        </p:spPr>
        <p:txBody>
          <a:bodyPr/>
          <a:p/>
        </p:txBody>
      </p:sp>
      <p:sp>
        <p:nvSpPr>
          <p:cNvPr id="21" name="Text 19"/>
          <p:cNvSpPr/>
          <p:nvPr/>
        </p:nvSpPr>
        <p:spPr>
          <a:xfrm>
            <a:off x="548640" y="4892040"/>
            <a:ext cx="2377440" cy="512064"/>
          </a:xfrm>
          <a:prstGeom prst="rect">
            <a:avLst/>
          </a:prstGeom>
          <a:noFill/>
          <a:ln/>
        </p:spPr>
        <p:txBody>
          <a:bodyPr wrap="square" lIns="0" tIns="0" rIns="0" bIns="0" rtlCol="0" anchor="ctr"/>
          <a:lstStyle/>
          <a:p>
            <a:pPr algn="ctr" indent="0" marL="0">
              <a:buNone/>
            </a:pPr>
            <a:r>
              <a:rPr lang="en-US" sz="1250" b="1" dirty="0">
                <a:solidFill>
                  <a:srgbClr val="0F172A"/>
                </a:solidFill>
                <a:latin typeface="Helvetica Neue" pitchFamily="34" charset="0"/>
                <a:ea typeface="Helvetica Neue" pitchFamily="34" charset="-122"/>
                <a:cs typeface="Helvetica Neue" pitchFamily="34" charset="-120"/>
              </a:rPr>
              <a:t>generic CSV / TSV</a:t>
            </a:r>
            <a:endParaRPr lang="en-US" sz="1250" dirty="0"/>
          </a:p>
        </p:txBody>
      </p:sp>
      <p:sp>
        <p:nvSpPr>
          <p:cNvPr id="22" name="Shape 20"/>
          <p:cNvSpPr/>
          <p:nvPr/>
        </p:nvSpPr>
        <p:spPr>
          <a:xfrm flipV="1">
            <a:off x="2926080" y="3108960"/>
            <a:ext cx="685800" cy="2039112"/>
          </a:xfrm>
          <a:prstGeom prst="line">
            <a:avLst/>
          </a:prstGeom>
          <a:noFill/>
          <a:ln w="15875">
            <a:solidFill>
              <a:srgbClr val="0F766E"/>
            </a:solidFill>
            <a:prstDash val="solid"/>
          </a:ln>
        </p:spPr>
        <p:txBody>
          <a:bodyPr/>
          <a:p/>
        </p:txBody>
      </p:sp>
      <p:sp>
        <p:nvSpPr>
          <p:cNvPr id="23" name="Shape 21"/>
          <p:cNvSpPr/>
          <p:nvPr/>
        </p:nvSpPr>
        <p:spPr>
          <a:xfrm>
            <a:off x="3611880" y="2606040"/>
            <a:ext cx="2788920" cy="1005840"/>
          </a:xfrm>
          <a:prstGeom prst="roundRect">
            <a:avLst>
              <a:gd name="adj" fmla="val 7273"/>
            </a:avLst>
          </a:prstGeom>
          <a:solidFill>
            <a:srgbClr val="0F766E"/>
          </a:solidFill>
          <a:ln/>
          <a:effectLst>
            <a:outerShdw sx="100000" sy="100000" kx="0" ky="0" algn="bl" rotWithShape="0" blurRad="88900" dist="25400" dir="2700000">
              <a:srgbClr val="94A3B8">
                <a:alpha val="32000"/>
              </a:srgbClr>
            </a:outerShdw>
          </a:effectLst>
        </p:spPr>
        <p:txBody>
          <a:bodyPr/>
          <a:p/>
        </p:txBody>
      </p:sp>
      <p:sp>
        <p:nvSpPr>
          <p:cNvPr id="24" name="Text 22"/>
          <p:cNvSpPr/>
          <p:nvPr/>
        </p:nvSpPr>
        <p:spPr>
          <a:xfrm>
            <a:off x="3611880" y="2606040"/>
            <a:ext cx="278892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Upload +</a:t>
            </a:r>
            <a:endParaRPr lang="en-US" sz="1500" dirty="0"/>
          </a:p>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auto-validation</a:t>
            </a:r>
            <a:endParaRPr lang="en-US" sz="1500" dirty="0"/>
          </a:p>
        </p:txBody>
      </p:sp>
      <p:sp>
        <p:nvSpPr>
          <p:cNvPr id="25" name="Shape 23"/>
          <p:cNvSpPr/>
          <p:nvPr/>
        </p:nvSpPr>
        <p:spPr>
          <a:xfrm flipV="1">
            <a:off x="6400800" y="2231136"/>
            <a:ext cx="777240" cy="877824"/>
          </a:xfrm>
          <a:prstGeom prst="line">
            <a:avLst/>
          </a:prstGeom>
          <a:noFill/>
          <a:ln w="15875">
            <a:solidFill>
              <a:srgbClr val="0F766E"/>
            </a:solidFill>
            <a:prstDash val="solid"/>
          </a:ln>
        </p:spPr>
        <p:txBody>
          <a:bodyPr/>
          <a:p/>
        </p:txBody>
      </p:sp>
      <p:sp>
        <p:nvSpPr>
          <p:cNvPr id="26" name="Shape 24"/>
          <p:cNvSpPr/>
          <p:nvPr/>
        </p:nvSpPr>
        <p:spPr>
          <a:xfrm>
            <a:off x="7178040" y="1828800"/>
            <a:ext cx="4434840" cy="804672"/>
          </a:xfrm>
          <a:prstGeom prst="roundRect">
            <a:avLst>
              <a:gd name="adj" fmla="val 6818"/>
            </a:avLst>
          </a:prstGeom>
          <a:solidFill>
            <a:srgbClr val="FFFFFF"/>
          </a:solidFill>
          <a:ln w="15875">
            <a:solidFill>
              <a:srgbClr val="0F766E"/>
            </a:solidFill>
            <a:prstDash val="solid"/>
          </a:ln>
        </p:spPr>
        <p:txBody>
          <a:bodyPr/>
          <a:p/>
        </p:txBody>
      </p:sp>
      <p:sp>
        <p:nvSpPr>
          <p:cNvPr id="27" name="Text 25"/>
          <p:cNvSpPr/>
          <p:nvPr/>
        </p:nvSpPr>
        <p:spPr>
          <a:xfrm>
            <a:off x="7452360" y="1828800"/>
            <a:ext cx="3931920" cy="804672"/>
          </a:xfrm>
          <a:prstGeom prst="rect">
            <a:avLst/>
          </a:prstGeom>
          <a:noFill/>
          <a:ln/>
        </p:spPr>
        <p:txBody>
          <a:bodyPr wrap="square" lIns="0" tIns="0" rIns="0" bIns="0" rtlCol="0" anchor="ctr"/>
          <a:lstStyle/>
          <a:p>
            <a:pPr indent="0" marL="0">
              <a:buNone/>
            </a:pPr>
            <a:r>
              <a:rPr lang="en-US" sz="1400" b="1" dirty="0">
                <a:solidFill>
                  <a:srgbClr val="0F172A"/>
                </a:solidFill>
                <a:latin typeface="Helvetica Neue" pitchFamily="34" charset="0"/>
                <a:ea typeface="Helvetica Neue" pitchFamily="34" charset="-122"/>
                <a:cs typeface="Helvetica Neue" pitchFamily="34" charset="-120"/>
              </a:rPr>
              <a:t>Species-level analyses</a:t>
            </a:r>
            <a:endParaRPr lang="en-US" sz="1400" dirty="0"/>
          </a:p>
        </p:txBody>
      </p:sp>
      <p:sp>
        <p:nvSpPr>
          <p:cNvPr id="28" name="Shape 26"/>
          <p:cNvSpPr/>
          <p:nvPr/>
        </p:nvSpPr>
        <p:spPr>
          <a:xfrm>
            <a:off x="6400800" y="3108960"/>
            <a:ext cx="777240" cy="310896"/>
          </a:xfrm>
          <a:prstGeom prst="line">
            <a:avLst/>
          </a:prstGeom>
          <a:noFill/>
          <a:ln w="15875">
            <a:solidFill>
              <a:srgbClr val="0F766E"/>
            </a:solidFill>
            <a:prstDash val="solid"/>
          </a:ln>
        </p:spPr>
        <p:txBody>
          <a:bodyPr/>
          <a:p/>
        </p:txBody>
      </p:sp>
      <p:sp>
        <p:nvSpPr>
          <p:cNvPr id="29" name="Shape 27"/>
          <p:cNvSpPr/>
          <p:nvPr/>
        </p:nvSpPr>
        <p:spPr>
          <a:xfrm>
            <a:off x="7178040" y="3017520"/>
            <a:ext cx="4434840" cy="804672"/>
          </a:xfrm>
          <a:prstGeom prst="roundRect">
            <a:avLst>
              <a:gd name="adj" fmla="val 6818"/>
            </a:avLst>
          </a:prstGeom>
          <a:solidFill>
            <a:srgbClr val="FFFFFF"/>
          </a:solidFill>
          <a:ln w="15875">
            <a:solidFill>
              <a:srgbClr val="0F766E"/>
            </a:solidFill>
            <a:prstDash val="solid"/>
          </a:ln>
        </p:spPr>
        <p:txBody>
          <a:bodyPr/>
          <a:p/>
        </p:txBody>
      </p:sp>
      <p:sp>
        <p:nvSpPr>
          <p:cNvPr id="30" name="Text 28"/>
          <p:cNvSpPr/>
          <p:nvPr/>
        </p:nvSpPr>
        <p:spPr>
          <a:xfrm>
            <a:off x="7452360" y="3017520"/>
            <a:ext cx="3931920" cy="804672"/>
          </a:xfrm>
          <a:prstGeom prst="rect">
            <a:avLst/>
          </a:prstGeom>
          <a:noFill/>
          <a:ln/>
        </p:spPr>
        <p:txBody>
          <a:bodyPr wrap="square" lIns="0" tIns="0" rIns="0" bIns="0" rtlCol="0" anchor="ctr"/>
          <a:lstStyle/>
          <a:p>
            <a:pPr indent="0" marL="0">
              <a:buNone/>
            </a:pPr>
            <a:r>
              <a:rPr lang="en-US" sz="1400" b="1" dirty="0">
                <a:solidFill>
                  <a:srgbClr val="0F172A"/>
                </a:solidFill>
                <a:latin typeface="Helvetica Neue" pitchFamily="34" charset="0"/>
                <a:ea typeface="Helvetica Neue" pitchFamily="34" charset="-122"/>
                <a:cs typeface="Helvetica Neue" pitchFamily="34" charset="-120"/>
              </a:rPr>
              <a:t>Function-gene analyses</a:t>
            </a:r>
            <a:endParaRPr lang="en-US" sz="1400" dirty="0"/>
          </a:p>
        </p:txBody>
      </p:sp>
      <p:sp>
        <p:nvSpPr>
          <p:cNvPr id="31" name="Shape 29"/>
          <p:cNvSpPr/>
          <p:nvPr/>
        </p:nvSpPr>
        <p:spPr>
          <a:xfrm>
            <a:off x="6400800" y="3108960"/>
            <a:ext cx="777240" cy="1499616"/>
          </a:xfrm>
          <a:prstGeom prst="line">
            <a:avLst/>
          </a:prstGeom>
          <a:noFill/>
          <a:ln w="15875">
            <a:solidFill>
              <a:srgbClr val="0F766E"/>
            </a:solidFill>
            <a:prstDash val="solid"/>
          </a:ln>
        </p:spPr>
        <p:txBody>
          <a:bodyPr/>
          <a:p/>
        </p:txBody>
      </p:sp>
      <p:sp>
        <p:nvSpPr>
          <p:cNvPr id="32" name="Shape 30"/>
          <p:cNvSpPr/>
          <p:nvPr/>
        </p:nvSpPr>
        <p:spPr>
          <a:xfrm>
            <a:off x="7178040" y="4206240"/>
            <a:ext cx="4434840" cy="804672"/>
          </a:xfrm>
          <a:prstGeom prst="roundRect">
            <a:avLst>
              <a:gd name="adj" fmla="val 6818"/>
            </a:avLst>
          </a:prstGeom>
          <a:solidFill>
            <a:srgbClr val="FFFFFF"/>
          </a:solidFill>
          <a:ln w="15875">
            <a:solidFill>
              <a:srgbClr val="0F766E"/>
            </a:solidFill>
            <a:prstDash val="solid"/>
          </a:ln>
        </p:spPr>
        <p:txBody>
          <a:bodyPr/>
          <a:p/>
        </p:txBody>
      </p:sp>
      <p:sp>
        <p:nvSpPr>
          <p:cNvPr id="33" name="Text 31"/>
          <p:cNvSpPr/>
          <p:nvPr/>
        </p:nvSpPr>
        <p:spPr>
          <a:xfrm>
            <a:off x="7452360" y="4206240"/>
            <a:ext cx="3931920" cy="804672"/>
          </a:xfrm>
          <a:prstGeom prst="rect">
            <a:avLst/>
          </a:prstGeom>
          <a:noFill/>
          <a:ln/>
        </p:spPr>
        <p:txBody>
          <a:bodyPr wrap="square" lIns="0" tIns="0" rIns="0" bIns="0" rtlCol="0" anchor="ctr"/>
          <a:lstStyle/>
          <a:p>
            <a:pPr indent="0" marL="0">
              <a:buNone/>
            </a:pPr>
            <a:r>
              <a:rPr lang="en-US" sz="1400" b="1" dirty="0">
                <a:solidFill>
                  <a:srgbClr val="0F172A"/>
                </a:solidFill>
                <a:latin typeface="Helvetica Neue" pitchFamily="34" charset="0"/>
                <a:ea typeface="Helvetica Neue" pitchFamily="34" charset="-122"/>
                <a:cs typeface="Helvetica Neue" pitchFamily="34" charset="-120"/>
              </a:rPr>
              <a:t>Strain-level analyses</a:t>
            </a:r>
            <a:endParaRPr lang="en-US" sz="1400" dirty="0"/>
          </a:p>
        </p:txBody>
      </p:sp>
      <p:sp>
        <p:nvSpPr>
          <p:cNvPr id="34" name="Shape 32"/>
          <p:cNvSpPr/>
          <p:nvPr/>
        </p:nvSpPr>
        <p:spPr>
          <a:xfrm>
            <a:off x="548640" y="5760720"/>
            <a:ext cx="11091672" cy="640080"/>
          </a:xfrm>
          <a:prstGeom prst="roundRect">
            <a:avLst>
              <a:gd name="adj" fmla="val 7143"/>
            </a:avLst>
          </a:prstGeom>
          <a:solidFill>
            <a:srgbClr val="EEF2F7"/>
          </a:solidFill>
          <a:ln/>
        </p:spPr>
        <p:txBody>
          <a:bodyPr/>
          <a:p/>
        </p:txBody>
      </p:sp>
      <p:sp>
        <p:nvSpPr>
          <p:cNvPr id="35" name="Text 33"/>
          <p:cNvSpPr/>
          <p:nvPr/>
        </p:nvSpPr>
        <p:spPr>
          <a:xfrm>
            <a:off x="731520" y="5760720"/>
            <a:ext cx="10744200" cy="640080"/>
          </a:xfrm>
          <a:prstGeom prst="rect">
            <a:avLst/>
          </a:prstGeom>
          <a:noFill/>
          <a:ln/>
        </p:spPr>
        <p:txBody>
          <a:bodyPr wrap="square" lIns="0" tIns="0" rIns="0" bIns="0" rtlCol="0" anchor="ctr"/>
          <a:lstStyle/>
          <a:p>
            <a:pPr indent="0" marL="0">
              <a:buNone/>
            </a:pPr>
            <a:r>
              <a:rPr lang="en-US" sz="1150" dirty="0">
                <a:solidFill>
                  <a:srgbClr val="0F172A"/>
                </a:solidFill>
                <a:latin typeface="Helvetica Neue" pitchFamily="34" charset="0"/>
                <a:ea typeface="Helvetica Neue" pitchFamily="34" charset="-122"/>
                <a:cs typeface="Helvetica Neue" pitchFamily="34" charset="-120"/>
              </a:rPr>
              <a:t>Validation catches the classics: mismatched sample names · library-size outliers · sparse features · missing group variables — with a report before a single test runs.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05</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MODULE 1 · SPECIES LEVEL</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Community statistics, end to end</a:t>
            </a:r>
            <a:endParaRPr lang="en-US" sz="2900" dirty="0"/>
          </a:p>
        </p:txBody>
      </p:sp>
      <p:sp>
        <p:nvSpPr>
          <p:cNvPr id="5" name="Text 3"/>
          <p:cNvSpPr/>
          <p:nvPr/>
        </p:nvSpPr>
        <p:spPr>
          <a:xfrm>
            <a:off x="548640" y="1783080"/>
            <a:ext cx="5029200" cy="320040"/>
          </a:xfrm>
          <a:prstGeom prst="rect">
            <a:avLst/>
          </a:prstGeom>
          <a:noFill/>
          <a:ln/>
        </p:spPr>
        <p:txBody>
          <a:bodyPr wrap="square" lIns="0" tIns="0" rIns="0" bIns="0" rtlCol="0" anchor="ctr"/>
          <a:lstStyle/>
          <a:p>
            <a:pPr indent="0" marL="0">
              <a:buNone/>
            </a:pPr>
            <a:r>
              <a:rPr lang="en-US" sz="1600" b="1" dirty="0">
                <a:solidFill>
                  <a:srgbClr val="0F766E"/>
                </a:solidFill>
                <a:latin typeface="Helvetica Neue" pitchFamily="34" charset="0"/>
                <a:ea typeface="Helvetica Neue" pitchFamily="34" charset="-122"/>
                <a:cs typeface="Helvetica Neue" pitchFamily="34" charset="-120"/>
              </a:rPr>
              <a:t>Diversity</a:t>
            </a:r>
            <a:endParaRPr lang="en-US" sz="1600" dirty="0"/>
          </a:p>
        </p:txBody>
      </p:sp>
      <p:sp>
        <p:nvSpPr>
          <p:cNvPr id="6" name="Text 4"/>
          <p:cNvSpPr/>
          <p:nvPr/>
        </p:nvSpPr>
        <p:spPr>
          <a:xfrm>
            <a:off x="640080" y="2176272"/>
            <a:ext cx="4937760" cy="868680"/>
          </a:xfrm>
          <a:prstGeom prst="rect">
            <a:avLst/>
          </a:prstGeom>
          <a:noFill/>
          <a:ln/>
        </p:spPr>
        <p:txBody>
          <a:bodyPr wrap="square" lIns="0" tIns="0" rIns="0" bIns="0" rtlCol="0" anchor="ctr"/>
          <a:lstStyle/>
          <a:p>
            <a:pPr marL="152400" indent="-152400">
              <a:spcAft>
                <a:spcPts val="600"/>
              </a:spcAft>
              <a:buSzPct val="100000"/>
              <a:buChar char="•"/>
            </a:pPr>
            <a:r>
              <a:rPr lang="en-US" sz="1250" dirty="0">
                <a:solidFill>
                  <a:srgbClr val="0F172A"/>
                </a:solidFill>
                <a:latin typeface="Helvetica Neue" pitchFamily="34" charset="0"/>
                <a:ea typeface="Helvetica Neue" pitchFamily="34" charset="-122"/>
                <a:cs typeface="Helvetica Neue" pitchFamily="34" charset="-120"/>
              </a:rPr>
              <a:t>Alpha — Shannon · Simpson · Chao1 · ACE · Pielou</a:t>
            </a:r>
            <a:endParaRPr lang="en-US" sz="1250" dirty="0"/>
          </a:p>
          <a:p>
            <a:pPr marL="152400" indent="-152400">
              <a:spcAft>
                <a:spcPts val="600"/>
              </a:spcAft>
              <a:buSzPct val="100000"/>
              <a:buChar char="•"/>
            </a:pPr>
            <a:r>
              <a:rPr lang="en-US" sz="1250" dirty="0">
                <a:solidFill>
                  <a:srgbClr val="0F172A"/>
                </a:solidFill>
                <a:latin typeface="Helvetica Neue" pitchFamily="34" charset="0"/>
                <a:ea typeface="Helvetica Neue" pitchFamily="34" charset="-122"/>
                <a:cs typeface="Helvetica Neue" pitchFamily="34" charset="-120"/>
              </a:rPr>
              <a:t>Beta — Bray-Curtis · Jaccard · Euclidean, with PCoA &amp; NMDS ordination</a:t>
            </a:r>
            <a:endParaRPr lang="en-US" sz="1250" dirty="0"/>
          </a:p>
        </p:txBody>
      </p:sp>
      <p:sp>
        <p:nvSpPr>
          <p:cNvPr id="7" name="Text 5"/>
          <p:cNvSpPr/>
          <p:nvPr/>
        </p:nvSpPr>
        <p:spPr>
          <a:xfrm>
            <a:off x="548640" y="3246120"/>
            <a:ext cx="5029200" cy="320040"/>
          </a:xfrm>
          <a:prstGeom prst="rect">
            <a:avLst/>
          </a:prstGeom>
          <a:noFill/>
          <a:ln/>
        </p:spPr>
        <p:txBody>
          <a:bodyPr wrap="square" lIns="0" tIns="0" rIns="0" bIns="0" rtlCol="0" anchor="ctr"/>
          <a:lstStyle/>
          <a:p>
            <a:pPr indent="0" marL="0">
              <a:buNone/>
            </a:pPr>
            <a:r>
              <a:rPr lang="en-US" sz="1600" b="1" dirty="0">
                <a:solidFill>
                  <a:srgbClr val="0F766E"/>
                </a:solidFill>
                <a:latin typeface="Helvetica Neue" pitchFamily="34" charset="0"/>
                <a:ea typeface="Helvetica Neue" pitchFamily="34" charset="-122"/>
                <a:cs typeface="Helvetica Neue" pitchFamily="34" charset="-120"/>
              </a:rPr>
              <a:t>Discovery</a:t>
            </a:r>
            <a:endParaRPr lang="en-US" sz="1600" dirty="0"/>
          </a:p>
        </p:txBody>
      </p:sp>
      <p:sp>
        <p:nvSpPr>
          <p:cNvPr id="8" name="Text 6"/>
          <p:cNvSpPr/>
          <p:nvPr/>
        </p:nvSpPr>
        <p:spPr>
          <a:xfrm>
            <a:off x="640080" y="3639312"/>
            <a:ext cx="4937760" cy="1280160"/>
          </a:xfrm>
          <a:prstGeom prst="rect">
            <a:avLst/>
          </a:prstGeom>
          <a:noFill/>
          <a:ln/>
        </p:spPr>
        <p:txBody>
          <a:bodyPr wrap="square" lIns="0" tIns="0" rIns="0" bIns="0" rtlCol="0" anchor="ctr"/>
          <a:lstStyle/>
          <a:p>
            <a:pPr marL="152400" indent="-152400">
              <a:spcAft>
                <a:spcPts val="600"/>
              </a:spcAft>
              <a:buSzPct val="100000"/>
              <a:buChar char="•"/>
            </a:pPr>
            <a:r>
              <a:rPr lang="en-US" sz="1250" dirty="0">
                <a:solidFill>
                  <a:srgbClr val="0F172A"/>
                </a:solidFill>
                <a:latin typeface="Helvetica Neue" pitchFamily="34" charset="0"/>
                <a:ea typeface="Helvetica Neue" pitchFamily="34" charset="-122"/>
                <a:cs typeface="Helvetica Neue" pitchFamily="34" charset="-120"/>
              </a:rPr>
              <a:t>Group tests — t-test · Wilcoxon · ANOVA · Kruskal-Wallis</a:t>
            </a:r>
            <a:endParaRPr lang="en-US" sz="1250" dirty="0"/>
          </a:p>
          <a:p>
            <a:pPr marL="152400" indent="-152400">
              <a:spcAft>
                <a:spcPts val="600"/>
              </a:spcAft>
              <a:buSzPct val="100000"/>
              <a:buChar char="•"/>
            </a:pPr>
            <a:r>
              <a:rPr lang="en-US" sz="1250" dirty="0">
                <a:solidFill>
                  <a:srgbClr val="0F172A"/>
                </a:solidFill>
                <a:latin typeface="Helvetica Neue" pitchFamily="34" charset="0"/>
                <a:ea typeface="Helvetica Neue" pitchFamily="34" charset="-122"/>
                <a:cs typeface="Helvetica Neue" pitchFamily="34" charset="-120"/>
              </a:rPr>
              <a:t>LEfSe — biomarker discovery with effect sizes (LDA)</a:t>
            </a:r>
            <a:endParaRPr lang="en-US" sz="1250" dirty="0"/>
          </a:p>
          <a:p>
            <a:pPr marL="152400" indent="-152400">
              <a:spcAft>
                <a:spcPts val="600"/>
              </a:spcAft>
              <a:buSzPct val="100000"/>
              <a:buChar char="•"/>
            </a:pPr>
            <a:r>
              <a:rPr lang="en-US" sz="1250" dirty="0">
                <a:solidFill>
                  <a:srgbClr val="0F172A"/>
                </a:solidFill>
                <a:latin typeface="Helvetica Neue" pitchFamily="34" charset="0"/>
                <a:ea typeface="Helvetica Neue" pitchFamily="34" charset="-122"/>
                <a:cs typeface="Helvetica Neue" pitchFamily="34" charset="-120"/>
              </a:rPr>
              <a:t>Random Forest — classification &amp; feature importance</a:t>
            </a:r>
            <a:endParaRPr lang="en-US" sz="1250" dirty="0"/>
          </a:p>
        </p:txBody>
      </p:sp>
      <p:sp>
        <p:nvSpPr>
          <p:cNvPr id="9" name="Shape 7"/>
          <p:cNvSpPr/>
          <p:nvPr/>
        </p:nvSpPr>
        <p:spPr>
          <a:xfrm>
            <a:off x="548640" y="5257800"/>
            <a:ext cx="5029200" cy="1051560"/>
          </a:xfrm>
          <a:prstGeom prst="roundRect">
            <a:avLst>
              <a:gd name="adj" fmla="val 4348"/>
            </a:avLst>
          </a:prstGeom>
          <a:solidFill>
            <a:srgbClr val="EEF2F7"/>
          </a:solidFill>
          <a:ln/>
        </p:spPr>
        <p:txBody>
          <a:bodyPr/>
          <a:p/>
        </p:txBody>
      </p:sp>
      <p:sp>
        <p:nvSpPr>
          <p:cNvPr id="10" name="Text 8"/>
          <p:cNvSpPr/>
          <p:nvPr/>
        </p:nvSpPr>
        <p:spPr>
          <a:xfrm>
            <a:off x="731520" y="5413248"/>
            <a:ext cx="4663440" cy="777240"/>
          </a:xfrm>
          <a:prstGeom prst="rect">
            <a:avLst/>
          </a:prstGeom>
          <a:noFill/>
          <a:ln/>
        </p:spPr>
        <p:txBody>
          <a:bodyPr wrap="square" lIns="0" tIns="0" rIns="0" bIns="0" rtlCol="0" anchor="t"/>
          <a:lstStyle/>
          <a:p>
            <a:pPr indent="0" marL="0">
              <a:spcAft>
                <a:spcPts val="300"/>
              </a:spcAft>
              <a:buNone/>
            </a:pPr>
            <a:r>
              <a:rPr lang="en-US" sz="1300" b="1" dirty="0">
                <a:solidFill>
                  <a:srgbClr val="0F172A"/>
                </a:solidFill>
                <a:latin typeface="Helvetica Neue" pitchFamily="34" charset="0"/>
                <a:ea typeface="Helvetica Neue" pitchFamily="34" charset="-122"/>
                <a:cs typeface="Helvetica Neue" pitchFamily="34" charset="-120"/>
              </a:rPr>
              <a:t>Every result carries its statistics</a:t>
            </a:r>
            <a:endParaRPr lang="en-US" sz="1300" dirty="0"/>
          </a:p>
          <a:p>
            <a:pPr indent="0" marL="0">
              <a:spcAft>
                <a:spcPts val="300"/>
              </a:spcAft>
              <a:buNone/>
            </a:pPr>
            <a:r>
              <a:rPr lang="en-US" sz="1100" dirty="0">
                <a:solidFill>
                  <a:srgbClr val="64748B"/>
                </a:solidFill>
                <a:latin typeface="Helvetica Neue" pitchFamily="34" charset="0"/>
                <a:ea typeface="Helvetica Neue" pitchFamily="34" charset="-122"/>
                <a:cs typeface="Helvetica Neue" pitchFamily="34" charset="-120"/>
              </a:rPr>
              <a:t>p-values, test details and figure data are attached to each output — nothing is a bare image.</a:t>
            </a:r>
            <a:endParaRPr lang="en-US" sz="1300" dirty="0"/>
          </a:p>
        </p:txBody>
      </p:sp>
      <p:sp>
        <p:nvSpPr>
          <p:cNvPr id="11" name="Shape 9"/>
          <p:cNvSpPr/>
          <p:nvPr/>
        </p:nvSpPr>
        <p:spPr>
          <a:xfrm>
            <a:off x="6089904" y="1700784"/>
            <a:ext cx="5605272" cy="3565017"/>
          </a:xfrm>
          <a:prstGeom prst="roundRect">
            <a:avLst>
              <a:gd name="adj" fmla="val 1539"/>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pic>
        <p:nvPicPr>
          <p:cNvPr id="12" name="Image 0" descr="assets/microbiome.png">    </p:cNvPr>
          <p:cNvPicPr>
            <a:picLocks noChangeAspect="1"/>
          </p:cNvPicPr>
          <p:nvPr/>
        </p:nvPicPr>
        <p:blipFill>
          <a:blip r:embed="rId1"/>
          <a:stretch>
            <a:fillRect/>
          </a:stretch>
        </p:blipFill>
        <p:spPr>
          <a:xfrm>
            <a:off x="6172200" y="1783080"/>
            <a:ext cx="5440680" cy="3400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06</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MODULE 2 · STRAIN LEVEL — WHAT MAKES US DIFFERENT</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Strain analytics you won't find in QIIME</a:t>
            </a:r>
            <a:endParaRPr lang="en-US" sz="2900" dirty="0"/>
          </a:p>
        </p:txBody>
      </p:sp>
      <p:sp>
        <p:nvSpPr>
          <p:cNvPr id="5" name="Text 3"/>
          <p:cNvSpPr/>
          <p:nvPr/>
        </p:nvSpPr>
        <p:spPr>
          <a:xfrm>
            <a:off x="548640" y="1627632"/>
            <a:ext cx="10881360" cy="365760"/>
          </a:xfrm>
          <a:prstGeom prst="rect">
            <a:avLst/>
          </a:prstGeom>
          <a:noFill/>
          <a:ln/>
        </p:spPr>
        <p:txBody>
          <a:bodyPr wrap="square" lIns="0" tIns="0" rIns="0" bIns="0" rtlCol="0" anchor="ctr"/>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2bRAD resolves below the species level — so the platform treats strains as first-class citizens, working directly on Strain2bScan output.</a:t>
            </a:r>
            <a:endParaRPr lang="en-US" sz="1300" dirty="0"/>
          </a:p>
        </p:txBody>
      </p:sp>
      <p:sp>
        <p:nvSpPr>
          <p:cNvPr id="6" name="Shape 4"/>
          <p:cNvSpPr/>
          <p:nvPr/>
        </p:nvSpPr>
        <p:spPr>
          <a:xfrm>
            <a:off x="548640" y="2331720"/>
            <a:ext cx="2103120" cy="2148840"/>
          </a:xfrm>
          <a:prstGeom prst="roundRect">
            <a:avLst>
              <a:gd name="adj" fmla="val 3043"/>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7" name="Shape 5"/>
          <p:cNvSpPr/>
          <p:nvPr/>
        </p:nvSpPr>
        <p:spPr>
          <a:xfrm>
            <a:off x="749808" y="2606040"/>
            <a:ext cx="310896" cy="310896"/>
          </a:xfrm>
          <a:prstGeom prst="roundRect">
            <a:avLst>
              <a:gd name="adj" fmla="val 14706"/>
            </a:avLst>
          </a:prstGeom>
          <a:solidFill>
            <a:srgbClr val="0F766E"/>
          </a:solidFill>
          <a:ln/>
        </p:spPr>
        <p:txBody>
          <a:bodyPr/>
          <a:p/>
        </p:txBody>
      </p:sp>
      <p:sp>
        <p:nvSpPr>
          <p:cNvPr id="8" name="Text 6"/>
          <p:cNvSpPr/>
          <p:nvPr/>
        </p:nvSpPr>
        <p:spPr>
          <a:xfrm>
            <a:off x="749808" y="3090672"/>
            <a:ext cx="1700784" cy="123444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Helvetica Neue" pitchFamily="34" charset="0"/>
                <a:ea typeface="Helvetica Neue" pitchFamily="34" charset="-122"/>
                <a:cs typeface="Helvetica Neue" pitchFamily="34" charset="-120"/>
              </a:rPr>
              <a:t>Composition</a:t>
            </a:r>
            <a:endParaRPr lang="en-US" sz="1400" dirty="0"/>
          </a:p>
          <a:p>
            <a:pPr indent="0" marL="0">
              <a:spcAft>
                <a:spcPts val="400"/>
              </a:spcAft>
              <a:buNone/>
            </a:pPr>
            <a:r>
              <a:rPr lang="en-US" sz="1050" dirty="0">
                <a:solidFill>
                  <a:srgbClr val="64748B"/>
                </a:solidFill>
                <a:latin typeface="Helvetica Neue" pitchFamily="34" charset="0"/>
                <a:ea typeface="Helvetica Neue" pitchFamily="34" charset="-122"/>
                <a:cs typeface="Helvetica Neue" pitchFamily="34" charset="-120"/>
              </a:rPr>
              <a:t>per-species strain profiles across all samples</a:t>
            </a:r>
            <a:endParaRPr lang="en-US" sz="1400" dirty="0"/>
          </a:p>
        </p:txBody>
      </p:sp>
      <p:sp>
        <p:nvSpPr>
          <p:cNvPr id="9" name="Shape 7"/>
          <p:cNvSpPr/>
          <p:nvPr/>
        </p:nvSpPr>
        <p:spPr>
          <a:xfrm>
            <a:off x="2798064" y="2331720"/>
            <a:ext cx="2103120" cy="2148840"/>
          </a:xfrm>
          <a:prstGeom prst="roundRect">
            <a:avLst>
              <a:gd name="adj" fmla="val 3043"/>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10" name="Shape 8"/>
          <p:cNvSpPr/>
          <p:nvPr/>
        </p:nvSpPr>
        <p:spPr>
          <a:xfrm>
            <a:off x="2999232" y="2606040"/>
            <a:ext cx="310896" cy="310896"/>
          </a:xfrm>
          <a:prstGeom prst="roundRect">
            <a:avLst>
              <a:gd name="adj" fmla="val 14706"/>
            </a:avLst>
          </a:prstGeom>
          <a:solidFill>
            <a:srgbClr val="0F766E"/>
          </a:solidFill>
          <a:ln/>
        </p:spPr>
        <p:txBody>
          <a:bodyPr/>
          <a:p/>
        </p:txBody>
      </p:sp>
      <p:sp>
        <p:nvSpPr>
          <p:cNvPr id="11" name="Text 9"/>
          <p:cNvSpPr/>
          <p:nvPr/>
        </p:nvSpPr>
        <p:spPr>
          <a:xfrm>
            <a:off x="2999232" y="3090672"/>
            <a:ext cx="1700784" cy="123444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Helvetica Neue" pitchFamily="34" charset="0"/>
                <a:ea typeface="Helvetica Neue" pitchFamily="34" charset="-122"/>
                <a:cs typeface="Helvetica Neue" pitchFamily="34" charset="-120"/>
              </a:rPr>
              <a:t>Richness &amp; alpha</a:t>
            </a:r>
            <a:endParaRPr lang="en-US" sz="1400" dirty="0"/>
          </a:p>
          <a:p>
            <a:pPr indent="0" marL="0">
              <a:spcAft>
                <a:spcPts val="400"/>
              </a:spcAft>
              <a:buNone/>
            </a:pPr>
            <a:r>
              <a:rPr lang="en-US" sz="1050" dirty="0">
                <a:solidFill>
                  <a:srgbClr val="64748B"/>
                </a:solidFill>
                <a:latin typeface="Helvetica Neue" pitchFamily="34" charset="0"/>
                <a:ea typeface="Helvetica Neue" pitchFamily="34" charset="-122"/>
                <a:cs typeface="Helvetica Neue" pitchFamily="34" charset="-120"/>
              </a:rPr>
              <a:t>strain diversity within each species</a:t>
            </a:r>
            <a:endParaRPr lang="en-US" sz="1400" dirty="0"/>
          </a:p>
        </p:txBody>
      </p:sp>
      <p:sp>
        <p:nvSpPr>
          <p:cNvPr id="12" name="Shape 10"/>
          <p:cNvSpPr/>
          <p:nvPr/>
        </p:nvSpPr>
        <p:spPr>
          <a:xfrm>
            <a:off x="5047488" y="2331720"/>
            <a:ext cx="2103120" cy="2148840"/>
          </a:xfrm>
          <a:prstGeom prst="roundRect">
            <a:avLst>
              <a:gd name="adj" fmla="val 3043"/>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13" name="Shape 11"/>
          <p:cNvSpPr/>
          <p:nvPr/>
        </p:nvSpPr>
        <p:spPr>
          <a:xfrm>
            <a:off x="5248656" y="2606040"/>
            <a:ext cx="310896" cy="310896"/>
          </a:xfrm>
          <a:prstGeom prst="roundRect">
            <a:avLst>
              <a:gd name="adj" fmla="val 14706"/>
            </a:avLst>
          </a:prstGeom>
          <a:solidFill>
            <a:srgbClr val="D97706"/>
          </a:solidFill>
          <a:ln/>
        </p:spPr>
        <p:txBody>
          <a:bodyPr/>
          <a:p/>
        </p:txBody>
      </p:sp>
      <p:sp>
        <p:nvSpPr>
          <p:cNvPr id="14" name="Text 12"/>
          <p:cNvSpPr/>
          <p:nvPr/>
        </p:nvSpPr>
        <p:spPr>
          <a:xfrm>
            <a:off x="5248656" y="3090672"/>
            <a:ext cx="1700784" cy="123444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Helvetica Neue" pitchFamily="34" charset="0"/>
                <a:ea typeface="Helvetica Neue" pitchFamily="34" charset="-122"/>
                <a:cs typeface="Helvetica Neue" pitchFamily="34" charset="-120"/>
              </a:rPr>
              <a:t>Replacement Score</a:t>
            </a:r>
            <a:endParaRPr lang="en-US" sz="1400" dirty="0"/>
          </a:p>
          <a:p>
            <a:pPr indent="0" marL="0">
              <a:spcAft>
                <a:spcPts val="400"/>
              </a:spcAft>
              <a:buNone/>
            </a:pPr>
            <a:r>
              <a:rPr lang="en-US" sz="1050" dirty="0">
                <a:solidFill>
                  <a:srgbClr val="64748B"/>
                </a:solidFill>
                <a:latin typeface="Helvetica Neue" pitchFamily="34" charset="0"/>
                <a:ea typeface="Helvetica Neue" pitchFamily="34" charset="-122"/>
                <a:cs typeface="Helvetica Neue" pitchFamily="34" charset="-120"/>
              </a:rPr>
              <a:t>quantifies strain turnover between groups</a:t>
            </a:r>
            <a:endParaRPr lang="en-US" sz="1400" dirty="0"/>
          </a:p>
        </p:txBody>
      </p:sp>
      <p:sp>
        <p:nvSpPr>
          <p:cNvPr id="15" name="Shape 13"/>
          <p:cNvSpPr/>
          <p:nvPr/>
        </p:nvSpPr>
        <p:spPr>
          <a:xfrm>
            <a:off x="7296912" y="2331720"/>
            <a:ext cx="2103120" cy="2148840"/>
          </a:xfrm>
          <a:prstGeom prst="roundRect">
            <a:avLst>
              <a:gd name="adj" fmla="val 3043"/>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16" name="Shape 14"/>
          <p:cNvSpPr/>
          <p:nvPr/>
        </p:nvSpPr>
        <p:spPr>
          <a:xfrm>
            <a:off x="7498080" y="2606040"/>
            <a:ext cx="310896" cy="310896"/>
          </a:xfrm>
          <a:prstGeom prst="roundRect">
            <a:avLst>
              <a:gd name="adj" fmla="val 14706"/>
            </a:avLst>
          </a:prstGeom>
          <a:solidFill>
            <a:srgbClr val="0F766E"/>
          </a:solidFill>
          <a:ln/>
        </p:spPr>
        <p:txBody>
          <a:bodyPr/>
          <a:p/>
        </p:txBody>
      </p:sp>
      <p:sp>
        <p:nvSpPr>
          <p:cNvPr id="17" name="Text 15"/>
          <p:cNvSpPr/>
          <p:nvPr/>
        </p:nvSpPr>
        <p:spPr>
          <a:xfrm>
            <a:off x="7498080" y="3090672"/>
            <a:ext cx="1700784" cy="123444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Helvetica Neue" pitchFamily="34" charset="0"/>
                <a:ea typeface="Helvetica Neue" pitchFamily="34" charset="-122"/>
                <a:cs typeface="Helvetica Neue" pitchFamily="34" charset="-120"/>
              </a:rPr>
              <a:t>Dominance Index</a:t>
            </a:r>
            <a:endParaRPr lang="en-US" sz="1400" dirty="0"/>
          </a:p>
          <a:p>
            <a:pPr indent="0" marL="0">
              <a:spcAft>
                <a:spcPts val="400"/>
              </a:spcAft>
              <a:buNone/>
            </a:pPr>
            <a:r>
              <a:rPr lang="en-US" sz="1050" dirty="0">
                <a:solidFill>
                  <a:srgbClr val="64748B"/>
                </a:solidFill>
                <a:latin typeface="Helvetica Neue" pitchFamily="34" charset="0"/>
                <a:ea typeface="Helvetica Neue" pitchFamily="34" charset="-122"/>
                <a:cs typeface="Helvetica Neue" pitchFamily="34" charset="-120"/>
              </a:rPr>
              <a:t>flags which strain prevails per species</a:t>
            </a:r>
            <a:endParaRPr lang="en-US" sz="1400" dirty="0"/>
          </a:p>
        </p:txBody>
      </p:sp>
      <p:sp>
        <p:nvSpPr>
          <p:cNvPr id="18" name="Shape 16"/>
          <p:cNvSpPr/>
          <p:nvPr/>
        </p:nvSpPr>
        <p:spPr>
          <a:xfrm>
            <a:off x="9546336" y="2331720"/>
            <a:ext cx="2103120" cy="2148840"/>
          </a:xfrm>
          <a:prstGeom prst="roundRect">
            <a:avLst>
              <a:gd name="adj" fmla="val 3043"/>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19" name="Shape 17"/>
          <p:cNvSpPr/>
          <p:nvPr/>
        </p:nvSpPr>
        <p:spPr>
          <a:xfrm>
            <a:off x="9747504" y="2606040"/>
            <a:ext cx="310896" cy="310896"/>
          </a:xfrm>
          <a:prstGeom prst="roundRect">
            <a:avLst>
              <a:gd name="adj" fmla="val 14706"/>
            </a:avLst>
          </a:prstGeom>
          <a:solidFill>
            <a:srgbClr val="0F766E"/>
          </a:solidFill>
          <a:ln/>
        </p:spPr>
        <p:txBody>
          <a:bodyPr/>
          <a:p/>
        </p:txBody>
      </p:sp>
      <p:sp>
        <p:nvSpPr>
          <p:cNvPr id="20" name="Text 18"/>
          <p:cNvSpPr/>
          <p:nvPr/>
        </p:nvSpPr>
        <p:spPr>
          <a:xfrm>
            <a:off x="9747504" y="3090672"/>
            <a:ext cx="1700784" cy="123444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Helvetica Neue" pitchFamily="34" charset="0"/>
                <a:ea typeface="Helvetica Neue" pitchFamily="34" charset="-122"/>
                <a:cs typeface="Helvetica Neue" pitchFamily="34" charset="-120"/>
              </a:rPr>
              <a:t>Networks</a:t>
            </a:r>
            <a:endParaRPr lang="en-US" sz="1400" dirty="0"/>
          </a:p>
          <a:p>
            <a:pPr indent="0" marL="0">
              <a:spcAft>
                <a:spcPts val="400"/>
              </a:spcAft>
              <a:buNone/>
            </a:pPr>
            <a:r>
              <a:rPr lang="en-US" sz="1050" dirty="0">
                <a:solidFill>
                  <a:srgbClr val="64748B"/>
                </a:solidFill>
                <a:latin typeface="Helvetica Neue" pitchFamily="34" charset="0"/>
                <a:ea typeface="Helvetica Neue" pitchFamily="34" charset="-122"/>
                <a:cs typeface="Helvetica Neue" pitchFamily="34" charset="-120"/>
              </a:rPr>
              <a:t>strain co-occurrence &amp; mutual-exclusion structure</a:t>
            </a:r>
            <a:endParaRPr lang="en-US" sz="1400" dirty="0"/>
          </a:p>
        </p:txBody>
      </p:sp>
      <p:sp>
        <p:nvSpPr>
          <p:cNvPr id="21" name="Text 19"/>
          <p:cNvSpPr/>
          <p:nvPr/>
        </p:nvSpPr>
        <p:spPr>
          <a:xfrm>
            <a:off x="548640" y="4983480"/>
            <a:ext cx="11064240" cy="685800"/>
          </a:xfrm>
          <a:prstGeom prst="rect">
            <a:avLst/>
          </a:prstGeom>
          <a:noFill/>
          <a:ln/>
        </p:spPr>
        <p:txBody>
          <a:bodyPr wrap="square" lIns="0" tIns="0" rIns="0" bIns="0" rtlCol="0" anchor="ctr"/>
          <a:lstStyle/>
          <a:p>
            <a:pPr indent="0" marL="0">
              <a:buNone/>
            </a:pPr>
            <a:r>
              <a:rPr lang="en-US" sz="1350" b="1" dirty="0">
                <a:solidFill>
                  <a:srgbClr val="D97706"/>
                </a:solidFill>
                <a:latin typeface="Helvetica Neue" pitchFamily="34" charset="0"/>
                <a:ea typeface="Helvetica Neue" pitchFamily="34" charset="-122"/>
                <a:cs typeface="Helvetica Neue" pitchFamily="34" charset="-120"/>
              </a:rPr>
              <a:t>Why it matters:  </a:t>
            </a:r>
            <a:pPr indent="0" marL="0">
              <a:buNone/>
            </a:pPr>
            <a:r>
              <a:rPr lang="en-US" sz="1350" dirty="0">
                <a:solidFill>
                  <a:srgbClr val="0F172A"/>
                </a:solidFill>
                <a:latin typeface="Helvetica Neue" pitchFamily="34" charset="0"/>
                <a:ea typeface="Helvetica Neue" pitchFamily="34" charset="-122"/>
                <a:cs typeface="Helvetica Neue" pitchFamily="34" charset="-120"/>
              </a:rPr>
              <a:t>two groups can share every species yet differ completely in strains — species-level analytics alone cannot see that.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07</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MODULE 3 · MULTI-OMICS</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Integrate species, function &amp; strain layers</a:t>
            </a:r>
            <a:endParaRPr lang="en-US" sz="2900" dirty="0"/>
          </a:p>
        </p:txBody>
      </p:sp>
      <p:sp>
        <p:nvSpPr>
          <p:cNvPr id="5" name="Text 3"/>
          <p:cNvSpPr/>
          <p:nvPr/>
        </p:nvSpPr>
        <p:spPr>
          <a:xfrm>
            <a:off x="548640" y="1874520"/>
            <a:ext cx="3246120" cy="1051560"/>
          </a:xfrm>
          <a:prstGeom prst="rect">
            <a:avLst/>
          </a:prstGeom>
          <a:noFill/>
          <a:ln/>
        </p:spPr>
        <p:txBody>
          <a:bodyPr wrap="square" lIns="0" tIns="0" rIns="0" bIns="0" rtlCol="0" anchor="t"/>
          <a:lstStyle/>
          <a:p>
            <a:pPr indent="0" marL="0">
              <a:lnSpc>
                <a:spcPct val="110000"/>
              </a:lnSpc>
              <a:spcAft>
                <a:spcPts val="400"/>
              </a:spcAft>
              <a:buNone/>
            </a:pPr>
            <a:r>
              <a:rPr lang="en-US" sz="1550" b="1" dirty="0">
                <a:solidFill>
                  <a:srgbClr val="0F172A"/>
                </a:solidFill>
                <a:latin typeface="Helvetica Neue" pitchFamily="34" charset="0"/>
                <a:ea typeface="Helvetica Neue" pitchFamily="34" charset="-122"/>
                <a:cs typeface="Helvetica Neue" pitchFamily="34" charset="-120"/>
              </a:rPr>
              <a:t>Linking layers</a:t>
            </a:r>
            <a:endParaRPr lang="en-US" sz="1550" dirty="0"/>
          </a:p>
          <a:p>
            <a:pPr indent="0" marL="0">
              <a:lnSpc>
                <a:spcPct val="110000"/>
              </a:lnSpc>
              <a:spcAft>
                <a:spcPts val="400"/>
              </a:spcAft>
              <a:buNone/>
            </a:pPr>
            <a:r>
              <a:rPr lang="en-US" sz="1150" dirty="0">
                <a:solidFill>
                  <a:srgbClr val="64748B"/>
                </a:solidFill>
                <a:latin typeface="Helvetica Neue" pitchFamily="34" charset="0"/>
                <a:ea typeface="Helvetica Neue" pitchFamily="34" charset="-122"/>
                <a:cs typeface="Helvetica Neue" pitchFamily="34" charset="-120"/>
              </a:rPr>
              <a:t>cross-omics correlation matrices (Spearman / Pearson) with FDR control</a:t>
            </a:r>
            <a:endParaRPr lang="en-US" sz="1550" dirty="0"/>
          </a:p>
        </p:txBody>
      </p:sp>
      <p:sp>
        <p:nvSpPr>
          <p:cNvPr id="6" name="Shape 4"/>
          <p:cNvSpPr/>
          <p:nvPr/>
        </p:nvSpPr>
        <p:spPr>
          <a:xfrm>
            <a:off x="548640" y="2889504"/>
            <a:ext cx="3200400" cy="0"/>
          </a:xfrm>
          <a:prstGeom prst="line">
            <a:avLst/>
          </a:prstGeom>
          <a:noFill/>
          <a:ln w="12700">
            <a:solidFill>
              <a:srgbClr val="E2E8F0"/>
            </a:solidFill>
            <a:prstDash val="solid"/>
          </a:ln>
        </p:spPr>
        <p:txBody>
          <a:bodyPr/>
          <a:p/>
        </p:txBody>
      </p:sp>
      <p:sp>
        <p:nvSpPr>
          <p:cNvPr id="7" name="Text 5"/>
          <p:cNvSpPr/>
          <p:nvPr/>
        </p:nvSpPr>
        <p:spPr>
          <a:xfrm>
            <a:off x="548640" y="3108960"/>
            <a:ext cx="3246120" cy="1051560"/>
          </a:xfrm>
          <a:prstGeom prst="rect">
            <a:avLst/>
          </a:prstGeom>
          <a:noFill/>
          <a:ln/>
        </p:spPr>
        <p:txBody>
          <a:bodyPr wrap="square" lIns="0" tIns="0" rIns="0" bIns="0" rtlCol="0" anchor="t"/>
          <a:lstStyle/>
          <a:p>
            <a:pPr indent="0" marL="0">
              <a:lnSpc>
                <a:spcPct val="110000"/>
              </a:lnSpc>
              <a:spcAft>
                <a:spcPts val="400"/>
              </a:spcAft>
              <a:buNone/>
            </a:pPr>
            <a:r>
              <a:rPr lang="en-US" sz="1550" b="1" dirty="0">
                <a:solidFill>
                  <a:srgbClr val="0F172A"/>
                </a:solidFill>
                <a:latin typeface="Helvetica Neue" pitchFamily="34" charset="0"/>
                <a:ea typeface="Helvetica Neue" pitchFamily="34" charset="-122"/>
                <a:cs typeface="Helvetica Neue" pitchFamily="34" charset="-120"/>
              </a:rPr>
              <a:t>Global tests</a:t>
            </a:r>
            <a:endParaRPr lang="en-US" sz="1550" dirty="0"/>
          </a:p>
          <a:p>
            <a:pPr indent="0" marL="0">
              <a:lnSpc>
                <a:spcPct val="110000"/>
              </a:lnSpc>
              <a:spcAft>
                <a:spcPts val="400"/>
              </a:spcAft>
              <a:buNone/>
            </a:pPr>
            <a:r>
              <a:rPr lang="en-US" sz="1150" dirty="0">
                <a:solidFill>
                  <a:srgbClr val="64748B"/>
                </a:solidFill>
                <a:latin typeface="Helvetica Neue" pitchFamily="34" charset="0"/>
                <a:ea typeface="Helvetica Neue" pitchFamily="34" charset="-122"/>
                <a:cs typeface="Helvetica Neue" pitchFamily="34" charset="-120"/>
              </a:rPr>
              <a:t>Procrustes analysis &amp; Mantel tests tie ordinations of two omics together</a:t>
            </a:r>
            <a:endParaRPr lang="en-US" sz="1550" dirty="0"/>
          </a:p>
        </p:txBody>
      </p:sp>
      <p:sp>
        <p:nvSpPr>
          <p:cNvPr id="8" name="Shape 6"/>
          <p:cNvSpPr/>
          <p:nvPr/>
        </p:nvSpPr>
        <p:spPr>
          <a:xfrm>
            <a:off x="548640" y="4123944"/>
            <a:ext cx="3200400" cy="0"/>
          </a:xfrm>
          <a:prstGeom prst="line">
            <a:avLst/>
          </a:prstGeom>
          <a:noFill/>
          <a:ln w="12700">
            <a:solidFill>
              <a:srgbClr val="E2E8F0"/>
            </a:solidFill>
            <a:prstDash val="solid"/>
          </a:ln>
        </p:spPr>
        <p:txBody>
          <a:bodyPr/>
          <a:p/>
        </p:txBody>
      </p:sp>
      <p:sp>
        <p:nvSpPr>
          <p:cNvPr id="9" name="Text 7"/>
          <p:cNvSpPr/>
          <p:nvPr/>
        </p:nvSpPr>
        <p:spPr>
          <a:xfrm>
            <a:off x="548640" y="4343400"/>
            <a:ext cx="3246120" cy="1051560"/>
          </a:xfrm>
          <a:prstGeom prst="rect">
            <a:avLst/>
          </a:prstGeom>
          <a:noFill/>
          <a:ln/>
        </p:spPr>
        <p:txBody>
          <a:bodyPr wrap="square" lIns="0" tIns="0" rIns="0" bIns="0" rtlCol="0" anchor="t"/>
          <a:lstStyle/>
          <a:p>
            <a:pPr indent="0" marL="0">
              <a:lnSpc>
                <a:spcPct val="110000"/>
              </a:lnSpc>
              <a:spcAft>
                <a:spcPts val="400"/>
              </a:spcAft>
              <a:buNone/>
            </a:pPr>
            <a:r>
              <a:rPr lang="en-US" sz="1550" b="1" dirty="0">
                <a:solidFill>
                  <a:srgbClr val="0F172A"/>
                </a:solidFill>
                <a:latin typeface="Helvetica Neue" pitchFamily="34" charset="0"/>
                <a:ea typeface="Helvetica Neue" pitchFamily="34" charset="-122"/>
                <a:cs typeface="Helvetica Neue" pitchFamily="34" charset="-120"/>
              </a:rPr>
              <a:t>Joint views</a:t>
            </a:r>
            <a:endParaRPr lang="en-US" sz="1550" dirty="0"/>
          </a:p>
          <a:p>
            <a:pPr indent="0" marL="0">
              <a:lnSpc>
                <a:spcPct val="110000"/>
              </a:lnSpc>
              <a:spcAft>
                <a:spcPts val="400"/>
              </a:spcAft>
              <a:buNone/>
            </a:pPr>
            <a:r>
              <a:rPr lang="en-US" sz="1150" dirty="0">
                <a:solidFill>
                  <a:srgbClr val="64748B"/>
                </a:solidFill>
                <a:latin typeface="Helvetica Neue" pitchFamily="34" charset="0"/>
                <a:ea typeface="Helvetica Neue" pitchFamily="34" charset="-122"/>
                <a:cs typeface="Helvetica Neue" pitchFamily="34" charset="-120"/>
              </a:rPr>
              <a:t>three-layer integrated heatmaps and species–function–strain networks</a:t>
            </a:r>
            <a:endParaRPr lang="en-US" sz="1550" dirty="0"/>
          </a:p>
        </p:txBody>
      </p:sp>
      <p:sp>
        <p:nvSpPr>
          <p:cNvPr id="10" name="Shape 8"/>
          <p:cNvSpPr/>
          <p:nvPr/>
        </p:nvSpPr>
        <p:spPr>
          <a:xfrm>
            <a:off x="4251960" y="1783080"/>
            <a:ext cx="4754880" cy="2194560"/>
          </a:xfrm>
          <a:prstGeom prst="rect">
            <a:avLst/>
          </a:prstGeom>
          <a:solidFill>
            <a:srgbClr val="FFFFFF"/>
          </a:solidFill>
          <a:ln w="12700">
            <a:solidFill>
              <a:srgbClr val="E2E8F0"/>
            </a:solidFill>
            <a:prstDash val="solid"/>
          </a:ln>
        </p:spPr>
        <p:txBody>
          <a:bodyPr/>
          <a:p/>
        </p:txBody>
      </p:sp>
      <p:pic>
        <p:nvPicPr>
          <p:cNvPr id="11" name="Image 0" descr="assets/multiomics_fig1_procrustes_fixed.png">    </p:cNvPr>
          <p:cNvPicPr>
            <a:picLocks noChangeAspect="1"/>
          </p:cNvPicPr>
          <p:nvPr/>
        </p:nvPicPr>
        <p:blipFill>
          <a:blip r:embed="rId1"/>
          <a:stretch>
            <a:fillRect/>
          </a:stretch>
        </p:blipFill>
        <p:spPr>
          <a:xfrm>
            <a:off x="4297680" y="1828800"/>
            <a:ext cx="4663440" cy="2103120"/>
          </a:xfrm>
          <a:prstGeom prst="rect">
            <a:avLst/>
          </a:prstGeom>
        </p:spPr>
      </p:pic>
      <p:sp>
        <p:nvSpPr>
          <p:cNvPr id="12" name="Text 9"/>
          <p:cNvSpPr/>
          <p:nvPr/>
        </p:nvSpPr>
        <p:spPr>
          <a:xfrm>
            <a:off x="4297680" y="4041648"/>
            <a:ext cx="4663440" cy="274320"/>
          </a:xfrm>
          <a:prstGeom prst="rect">
            <a:avLst/>
          </a:prstGeom>
          <a:noFill/>
          <a:ln/>
        </p:spPr>
        <p:txBody>
          <a:bodyPr wrap="square" lIns="0" tIns="0" rIns="0" bIns="0" rtlCol="0" anchor="ctr"/>
          <a:lstStyle/>
          <a:p>
            <a:pPr indent="0" marL="0">
              <a:buNone/>
            </a:pPr>
            <a:r>
              <a:rPr lang="en-US" sz="1000" dirty="0">
                <a:solidFill>
                  <a:srgbClr val="64748B"/>
                </a:solidFill>
                <a:latin typeface="Helvetica Neue" pitchFamily="34" charset="0"/>
                <a:ea typeface="Helvetica Neue" pitchFamily="34" charset="-122"/>
                <a:cs typeface="Helvetica Neue" pitchFamily="34" charset="-120"/>
              </a:rPr>
              <a:t>Procrustes — microbe &amp; metabolite ordinations, linked sample-by-sample</a:t>
            </a:r>
            <a:endParaRPr lang="en-US" sz="1000" dirty="0"/>
          </a:p>
        </p:txBody>
      </p:sp>
      <p:sp>
        <p:nvSpPr>
          <p:cNvPr id="13" name="Shape 10"/>
          <p:cNvSpPr/>
          <p:nvPr/>
        </p:nvSpPr>
        <p:spPr>
          <a:xfrm>
            <a:off x="4251960" y="4480560"/>
            <a:ext cx="2304288" cy="2020824"/>
          </a:xfrm>
          <a:prstGeom prst="rect">
            <a:avLst/>
          </a:prstGeom>
          <a:solidFill>
            <a:srgbClr val="FFFFFF"/>
          </a:solidFill>
          <a:ln w="12700">
            <a:solidFill>
              <a:srgbClr val="E2E8F0"/>
            </a:solidFill>
            <a:prstDash val="solid"/>
          </a:ln>
        </p:spPr>
        <p:txBody>
          <a:bodyPr/>
          <a:p/>
        </p:txBody>
      </p:sp>
      <p:pic>
        <p:nvPicPr>
          <p:cNvPr id="14" name="Image 1" descr="assets/multiomics_fig2_mantel.png">    </p:cNvPr>
          <p:cNvPicPr>
            <a:picLocks noChangeAspect="1"/>
          </p:cNvPicPr>
          <p:nvPr/>
        </p:nvPicPr>
        <p:blipFill>
          <a:blip r:embed="rId2"/>
          <a:stretch>
            <a:fillRect/>
          </a:stretch>
        </p:blipFill>
        <p:spPr>
          <a:xfrm>
            <a:off x="4297680" y="4526280"/>
            <a:ext cx="2212848" cy="1929384"/>
          </a:xfrm>
          <a:prstGeom prst="rect">
            <a:avLst/>
          </a:prstGeom>
        </p:spPr>
      </p:pic>
      <p:sp>
        <p:nvSpPr>
          <p:cNvPr id="15" name="Text 11"/>
          <p:cNvSpPr/>
          <p:nvPr/>
        </p:nvSpPr>
        <p:spPr>
          <a:xfrm>
            <a:off x="4297680" y="6510528"/>
            <a:ext cx="2212848" cy="228600"/>
          </a:xfrm>
          <a:prstGeom prst="rect">
            <a:avLst/>
          </a:prstGeom>
          <a:noFill/>
          <a:ln/>
        </p:spPr>
        <p:txBody>
          <a:bodyPr wrap="square" lIns="0" tIns="0" rIns="0" bIns="0" rtlCol="0" anchor="ctr"/>
          <a:lstStyle/>
          <a:p>
            <a:pPr indent="0" marL="0">
              <a:buNone/>
            </a:pPr>
            <a:r>
              <a:rPr lang="en-US" sz="1000" dirty="0">
                <a:solidFill>
                  <a:srgbClr val="64748B"/>
                </a:solidFill>
                <a:latin typeface="Helvetica Neue" pitchFamily="34" charset="0"/>
                <a:ea typeface="Helvetica Neue" pitchFamily="34" charset="-122"/>
                <a:cs typeface="Helvetica Neue" pitchFamily="34" charset="-120"/>
              </a:rPr>
              <a:t>Mantel correlation</a:t>
            </a:r>
            <a:endParaRPr lang="en-US" sz="1000" dirty="0"/>
          </a:p>
        </p:txBody>
      </p:sp>
      <p:sp>
        <p:nvSpPr>
          <p:cNvPr id="16" name="Shape 12"/>
          <p:cNvSpPr/>
          <p:nvPr/>
        </p:nvSpPr>
        <p:spPr>
          <a:xfrm>
            <a:off x="6720840" y="4480560"/>
            <a:ext cx="3108960" cy="1920240"/>
          </a:xfrm>
          <a:prstGeom prst="rect">
            <a:avLst/>
          </a:prstGeom>
          <a:solidFill>
            <a:srgbClr val="FFFFFF"/>
          </a:solidFill>
          <a:ln w="12700">
            <a:solidFill>
              <a:srgbClr val="E2E8F0"/>
            </a:solidFill>
            <a:prstDash val="solid"/>
          </a:ln>
        </p:spPr>
        <p:txBody>
          <a:bodyPr/>
          <a:p/>
        </p:txBody>
      </p:sp>
      <p:pic>
        <p:nvPicPr>
          <p:cNvPr id="17" name="Image 2" descr="assets/report_fig3_heatmap.png">    </p:cNvPr>
          <p:cNvPicPr>
            <a:picLocks noChangeAspect="1"/>
          </p:cNvPicPr>
          <p:nvPr/>
        </p:nvPicPr>
        <p:blipFill>
          <a:blip r:embed="rId3"/>
          <a:stretch>
            <a:fillRect/>
          </a:stretch>
        </p:blipFill>
        <p:spPr>
          <a:xfrm>
            <a:off x="6766560" y="4526280"/>
            <a:ext cx="3017520" cy="1828800"/>
          </a:xfrm>
          <a:prstGeom prst="rect">
            <a:avLst/>
          </a:prstGeom>
        </p:spPr>
      </p:pic>
      <p:sp>
        <p:nvSpPr>
          <p:cNvPr id="18" name="Text 13"/>
          <p:cNvSpPr/>
          <p:nvPr/>
        </p:nvSpPr>
        <p:spPr>
          <a:xfrm>
            <a:off x="6766560" y="6419088"/>
            <a:ext cx="3017520" cy="228600"/>
          </a:xfrm>
          <a:prstGeom prst="rect">
            <a:avLst/>
          </a:prstGeom>
          <a:noFill/>
          <a:ln/>
        </p:spPr>
        <p:txBody>
          <a:bodyPr wrap="square" lIns="0" tIns="0" rIns="0" bIns="0" rtlCol="0" anchor="ctr"/>
          <a:lstStyle/>
          <a:p>
            <a:pPr indent="0" marL="0">
              <a:buNone/>
            </a:pPr>
            <a:r>
              <a:rPr lang="en-US" sz="1000" dirty="0">
                <a:solidFill>
                  <a:srgbClr val="64748B"/>
                </a:solidFill>
                <a:latin typeface="Helvetica Neue" pitchFamily="34" charset="0"/>
                <a:ea typeface="Helvetica Neue" pitchFamily="34" charset="-122"/>
                <a:cs typeface="Helvetica Neue" pitchFamily="34" charset="-120"/>
              </a:rPr>
              <a:t>Differential abundance heatmap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08</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AI ASSISTANT</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Ask in plain language — the agent runs the stats</a:t>
            </a:r>
            <a:endParaRPr lang="en-US" sz="2900" dirty="0"/>
          </a:p>
        </p:txBody>
      </p:sp>
      <p:sp>
        <p:nvSpPr>
          <p:cNvPr id="5" name="Text 3"/>
          <p:cNvSpPr/>
          <p:nvPr/>
        </p:nvSpPr>
        <p:spPr>
          <a:xfrm>
            <a:off x="548640" y="1810512"/>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01</a:t>
            </a:r>
            <a:endParaRPr lang="en-US" sz="2000" dirty="0"/>
          </a:p>
        </p:txBody>
      </p:sp>
      <p:sp>
        <p:nvSpPr>
          <p:cNvPr id="6" name="Text 4"/>
          <p:cNvSpPr/>
          <p:nvPr/>
        </p:nvSpPr>
        <p:spPr>
          <a:xfrm>
            <a:off x="1207008" y="1792224"/>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Ask</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“PCoA coloured by Visit, point size by Bleeding” — English or Chinese, your words</a:t>
            </a:r>
            <a:endParaRPr lang="en-US" sz="1450" dirty="0"/>
          </a:p>
        </p:txBody>
      </p:sp>
      <p:sp>
        <p:nvSpPr>
          <p:cNvPr id="7" name="Text 5"/>
          <p:cNvSpPr/>
          <p:nvPr/>
        </p:nvSpPr>
        <p:spPr>
          <a:xfrm>
            <a:off x="548640" y="2706624"/>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02</a:t>
            </a:r>
            <a:endParaRPr lang="en-US" sz="2000" dirty="0"/>
          </a:p>
        </p:txBody>
      </p:sp>
      <p:sp>
        <p:nvSpPr>
          <p:cNvPr id="8" name="Text 6"/>
          <p:cNvSpPr/>
          <p:nvPr/>
        </p:nvSpPr>
        <p:spPr>
          <a:xfrm>
            <a:off x="1207008" y="2688336"/>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Plan</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the agent drafts the full method chain with parameters — you review and approve</a:t>
            </a:r>
            <a:endParaRPr lang="en-US" sz="1450" dirty="0"/>
          </a:p>
        </p:txBody>
      </p:sp>
      <p:sp>
        <p:nvSpPr>
          <p:cNvPr id="9" name="Text 7"/>
          <p:cNvSpPr/>
          <p:nvPr/>
        </p:nvSpPr>
        <p:spPr>
          <a:xfrm>
            <a:off x="548640" y="3602736"/>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03</a:t>
            </a:r>
            <a:endParaRPr lang="en-US" sz="2000" dirty="0"/>
          </a:p>
        </p:txBody>
      </p:sp>
      <p:sp>
        <p:nvSpPr>
          <p:cNvPr id="10" name="Text 8"/>
          <p:cNvSpPr/>
          <p:nvPr/>
        </p:nvSpPr>
        <p:spPr>
          <a:xfrm>
            <a:off x="1207008" y="3584448"/>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Execute</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runs on the real R / Python engine, streaming live progress</a:t>
            </a:r>
            <a:endParaRPr lang="en-US" sz="1450" dirty="0"/>
          </a:p>
        </p:txBody>
      </p:sp>
      <p:sp>
        <p:nvSpPr>
          <p:cNvPr id="11" name="Text 9"/>
          <p:cNvSpPr/>
          <p:nvPr/>
        </p:nvSpPr>
        <p:spPr>
          <a:xfrm>
            <a:off x="548640" y="4498848"/>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04</a:t>
            </a:r>
            <a:endParaRPr lang="en-US" sz="2000" dirty="0"/>
          </a:p>
        </p:txBody>
      </p:sp>
      <p:sp>
        <p:nvSpPr>
          <p:cNvPr id="12" name="Text 10"/>
          <p:cNvSpPr/>
          <p:nvPr/>
        </p:nvSpPr>
        <p:spPr>
          <a:xfrm>
            <a:off x="1207008" y="4480560"/>
            <a:ext cx="44622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Interpret</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figures plus a written interpretation of what the numbers mean</a:t>
            </a:r>
            <a:endParaRPr lang="en-US" sz="1450" dirty="0"/>
          </a:p>
        </p:txBody>
      </p:sp>
      <p:sp>
        <p:nvSpPr>
          <p:cNvPr id="13" name="Shape 11"/>
          <p:cNvSpPr/>
          <p:nvPr/>
        </p:nvSpPr>
        <p:spPr>
          <a:xfrm>
            <a:off x="548640" y="5577840"/>
            <a:ext cx="5120640" cy="822960"/>
          </a:xfrm>
          <a:prstGeom prst="roundRect">
            <a:avLst>
              <a:gd name="adj" fmla="val 5556"/>
            </a:avLst>
          </a:prstGeom>
          <a:solidFill>
            <a:srgbClr val="E7F1EF"/>
          </a:solidFill>
          <a:ln/>
        </p:spPr>
        <p:txBody>
          <a:bodyPr/>
          <a:p/>
        </p:txBody>
      </p:sp>
      <p:sp>
        <p:nvSpPr>
          <p:cNvPr id="14" name="Text 12"/>
          <p:cNvSpPr/>
          <p:nvPr/>
        </p:nvSpPr>
        <p:spPr>
          <a:xfrm>
            <a:off x="731520" y="5687568"/>
            <a:ext cx="4800600" cy="640080"/>
          </a:xfrm>
          <a:prstGeom prst="rect">
            <a:avLst/>
          </a:prstGeom>
          <a:noFill/>
          <a:ln/>
        </p:spPr>
        <p:txBody>
          <a:bodyPr wrap="square" lIns="0" tIns="0" rIns="0" bIns="0" rtlCol="0" anchor="t"/>
          <a:lstStyle/>
          <a:p>
            <a:pPr indent="0" marL="0">
              <a:spcAft>
                <a:spcPts val="200"/>
              </a:spcAft>
              <a:buNone/>
            </a:pPr>
            <a:r>
              <a:rPr lang="en-US" sz="1250" b="1" dirty="0">
                <a:solidFill>
                  <a:srgbClr val="0F766E"/>
                </a:solidFill>
                <a:latin typeface="Helvetica Neue" pitchFamily="34" charset="0"/>
                <a:ea typeface="Helvetica Neue" pitchFamily="34" charset="-122"/>
                <a:cs typeface="Helvetica Neue" pitchFamily="34" charset="-120"/>
              </a:rPr>
              <a:t>Also on this page</a:t>
            </a:r>
            <a:endParaRPr lang="en-US" sz="1250" dirty="0"/>
          </a:p>
          <a:p>
            <a:pPr indent="0" marL="0">
              <a:spcAft>
                <a:spcPts val="200"/>
              </a:spcAft>
              <a:buNone/>
            </a:pPr>
            <a:r>
              <a:rPr lang="en-US" sz="1050" dirty="0">
                <a:solidFill>
                  <a:srgbClr val="0F172A"/>
                </a:solidFill>
                <a:latin typeface="Helvetica Neue" pitchFamily="34" charset="0"/>
                <a:ea typeface="Helvetica Neue" pitchFamily="34" charset="-122"/>
                <a:cs typeface="Helvetica Neue" pitchFamily="34" charset="-120"/>
              </a:rPr>
              <a:t>one-click demo datasets · available in guest mode · optional LLM assist with a knowledge-base-only fallback</a:t>
            </a:r>
            <a:endParaRPr lang="en-US" sz="1250" dirty="0"/>
          </a:p>
        </p:txBody>
      </p:sp>
      <p:sp>
        <p:nvSpPr>
          <p:cNvPr id="15" name="Shape 13"/>
          <p:cNvSpPr/>
          <p:nvPr/>
        </p:nvSpPr>
        <p:spPr>
          <a:xfrm>
            <a:off x="6089904" y="1700784"/>
            <a:ext cx="5605272" cy="3565017"/>
          </a:xfrm>
          <a:prstGeom prst="roundRect">
            <a:avLst>
              <a:gd name="adj" fmla="val 1539"/>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pic>
        <p:nvPicPr>
          <p:cNvPr id="16" name="Image 0" descr="assets/agent.png">    </p:cNvPr>
          <p:cNvPicPr>
            <a:picLocks noChangeAspect="1"/>
          </p:cNvPicPr>
          <p:nvPr/>
        </p:nvPicPr>
        <p:blipFill>
          <a:blip r:embed="rId1"/>
          <a:stretch>
            <a:fillRect/>
          </a:stretch>
        </p:blipFill>
        <p:spPr>
          <a:xfrm>
            <a:off x="6172200" y="1783080"/>
            <a:ext cx="5440680" cy="3400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09</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BUILT-IN DATA</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Real published data, one click away</a:t>
            </a:r>
            <a:endParaRPr lang="en-US" sz="2900" dirty="0"/>
          </a:p>
        </p:txBody>
      </p:sp>
      <p:sp>
        <p:nvSpPr>
          <p:cNvPr id="5" name="Text 3"/>
          <p:cNvSpPr/>
          <p:nvPr/>
        </p:nvSpPr>
        <p:spPr>
          <a:xfrm>
            <a:off x="548640" y="1828800"/>
            <a:ext cx="3566160" cy="960120"/>
          </a:xfrm>
          <a:prstGeom prst="rect">
            <a:avLst/>
          </a:prstGeom>
          <a:noFill/>
          <a:ln/>
        </p:spPr>
        <p:txBody>
          <a:bodyPr wrap="square" lIns="0" tIns="0" rIns="0" bIns="0" rtlCol="0" anchor="ctr"/>
          <a:lstStyle/>
          <a:p>
            <a:pPr indent="0" marL="0">
              <a:buNone/>
            </a:pPr>
            <a:r>
              <a:rPr lang="en-US" sz="5400" b="1" dirty="0">
                <a:solidFill>
                  <a:srgbClr val="0F766E"/>
                </a:solidFill>
                <a:latin typeface="Helvetica Neue" pitchFamily="34" charset="0"/>
                <a:ea typeface="Helvetica Neue" pitchFamily="34" charset="-122"/>
                <a:cs typeface="Helvetica Neue" pitchFamily="34" charset="-120"/>
              </a:rPr>
              <a:t>261</a:t>
            </a:r>
            <a:endParaRPr lang="en-US" sz="5400" dirty="0"/>
          </a:p>
        </p:txBody>
      </p:sp>
      <p:sp>
        <p:nvSpPr>
          <p:cNvPr id="6" name="Text 4"/>
          <p:cNvSpPr/>
          <p:nvPr/>
        </p:nvSpPr>
        <p:spPr>
          <a:xfrm>
            <a:off x="548640" y="2834640"/>
            <a:ext cx="3566160" cy="320040"/>
          </a:xfrm>
          <a:prstGeom prst="rect">
            <a:avLst/>
          </a:prstGeom>
          <a:noFill/>
          <a:ln/>
        </p:spPr>
        <p:txBody>
          <a:bodyPr wrap="square" lIns="0" tIns="0" rIns="0" bIns="0" rtlCol="0" anchor="ctr"/>
          <a:lstStyle/>
          <a:p>
            <a:pPr indent="0" marL="0">
              <a:buNone/>
            </a:pPr>
            <a:r>
              <a:rPr lang="en-US" sz="1250" dirty="0">
                <a:solidFill>
                  <a:srgbClr val="64748B"/>
                </a:solidFill>
                <a:latin typeface="Helvetica Neue" pitchFamily="34" charset="0"/>
                <a:ea typeface="Helvetica Neue" pitchFamily="34" charset="-122"/>
                <a:cs typeface="Helvetica Neue" pitchFamily="34" charset="-120"/>
              </a:rPr>
              <a:t>plaque samples, longitudinal</a:t>
            </a:r>
            <a:endParaRPr lang="en-US" sz="1250" dirty="0"/>
          </a:p>
        </p:txBody>
      </p:sp>
      <p:sp>
        <p:nvSpPr>
          <p:cNvPr id="7" name="Text 5"/>
          <p:cNvSpPr/>
          <p:nvPr/>
        </p:nvSpPr>
        <p:spPr>
          <a:xfrm>
            <a:off x="4315968" y="1828800"/>
            <a:ext cx="3566160" cy="960120"/>
          </a:xfrm>
          <a:prstGeom prst="rect">
            <a:avLst/>
          </a:prstGeom>
          <a:noFill/>
          <a:ln/>
        </p:spPr>
        <p:txBody>
          <a:bodyPr wrap="square" lIns="0" tIns="0" rIns="0" bIns="0" rtlCol="0" anchor="ctr"/>
          <a:lstStyle/>
          <a:p>
            <a:pPr indent="0" marL="0">
              <a:buNone/>
            </a:pPr>
            <a:r>
              <a:rPr lang="en-US" sz="5400" b="1" dirty="0">
                <a:solidFill>
                  <a:srgbClr val="0F766E"/>
                </a:solidFill>
                <a:latin typeface="Helvetica Neue" pitchFamily="34" charset="0"/>
                <a:ea typeface="Helvetica Neue" pitchFamily="34" charset="-122"/>
                <a:cs typeface="Helvetica Neue" pitchFamily="34" charset="-120"/>
              </a:rPr>
              <a:t>44 + 1,125</a:t>
            </a:r>
            <a:endParaRPr lang="en-US" sz="5400" dirty="0"/>
          </a:p>
        </p:txBody>
      </p:sp>
      <p:sp>
        <p:nvSpPr>
          <p:cNvPr id="8" name="Text 6"/>
          <p:cNvSpPr/>
          <p:nvPr/>
        </p:nvSpPr>
        <p:spPr>
          <a:xfrm>
            <a:off x="4315968" y="2834640"/>
            <a:ext cx="3566160" cy="320040"/>
          </a:xfrm>
          <a:prstGeom prst="rect">
            <a:avLst/>
          </a:prstGeom>
          <a:noFill/>
          <a:ln/>
        </p:spPr>
        <p:txBody>
          <a:bodyPr wrap="square" lIns="0" tIns="0" rIns="0" bIns="0" rtlCol="0" anchor="ctr"/>
          <a:lstStyle/>
          <a:p>
            <a:pPr indent="0" marL="0">
              <a:buNone/>
            </a:pPr>
            <a:r>
              <a:rPr lang="en-US" sz="1250" dirty="0">
                <a:solidFill>
                  <a:srgbClr val="64748B"/>
                </a:solidFill>
                <a:latin typeface="Helvetica Neue" pitchFamily="34" charset="0"/>
                <a:ea typeface="Helvetica Neue" pitchFamily="34" charset="-122"/>
                <a:cs typeface="Helvetica Neue" pitchFamily="34" charset="-120"/>
              </a:rPr>
              <a:t>genera + metabolites quantified</a:t>
            </a:r>
            <a:endParaRPr lang="en-US" sz="1250" dirty="0"/>
          </a:p>
        </p:txBody>
      </p:sp>
      <p:sp>
        <p:nvSpPr>
          <p:cNvPr id="9" name="Text 7"/>
          <p:cNvSpPr/>
          <p:nvPr/>
        </p:nvSpPr>
        <p:spPr>
          <a:xfrm>
            <a:off x="8083296" y="1828800"/>
            <a:ext cx="3566160" cy="960120"/>
          </a:xfrm>
          <a:prstGeom prst="rect">
            <a:avLst/>
          </a:prstGeom>
          <a:noFill/>
          <a:ln/>
        </p:spPr>
        <p:txBody>
          <a:bodyPr wrap="square" lIns="0" tIns="0" rIns="0" bIns="0" rtlCol="0" anchor="ctr"/>
          <a:lstStyle/>
          <a:p>
            <a:pPr indent="0" marL="0">
              <a:buNone/>
            </a:pPr>
            <a:r>
              <a:rPr lang="en-US" sz="5400" b="1" dirty="0">
                <a:solidFill>
                  <a:srgbClr val="0F766E"/>
                </a:solidFill>
                <a:latin typeface="Helvetica Neue" pitchFamily="34" charset="0"/>
                <a:ea typeface="Helvetica Neue" pitchFamily="34" charset="-122"/>
                <a:cs typeface="Helvetica Neue" pitchFamily="34" charset="-120"/>
              </a:rPr>
              <a:t>20</a:t>
            </a:r>
            <a:endParaRPr lang="en-US" sz="5400" dirty="0"/>
          </a:p>
        </p:txBody>
      </p:sp>
      <p:sp>
        <p:nvSpPr>
          <p:cNvPr id="10" name="Text 8"/>
          <p:cNvSpPr/>
          <p:nvPr/>
        </p:nvSpPr>
        <p:spPr>
          <a:xfrm>
            <a:off x="8083296" y="2834640"/>
            <a:ext cx="3566160" cy="320040"/>
          </a:xfrm>
          <a:prstGeom prst="rect">
            <a:avLst/>
          </a:prstGeom>
          <a:noFill/>
          <a:ln/>
        </p:spPr>
        <p:txBody>
          <a:bodyPr wrap="square" lIns="0" tIns="0" rIns="0" bIns="0" rtlCol="0" anchor="ctr"/>
          <a:lstStyle/>
          <a:p>
            <a:pPr indent="0" marL="0">
              <a:buNone/>
            </a:pPr>
            <a:r>
              <a:rPr lang="en-US" sz="1250" dirty="0">
                <a:solidFill>
                  <a:srgbClr val="64748B"/>
                </a:solidFill>
                <a:latin typeface="Helvetica Neue" pitchFamily="34" charset="0"/>
                <a:ea typeface="Helvetica Neue" pitchFamily="34" charset="-122"/>
                <a:cs typeface="Helvetica Neue" pitchFamily="34" charset="-120"/>
              </a:rPr>
              <a:t>clinical &amp; visit variables</a:t>
            </a:r>
            <a:endParaRPr lang="en-US" sz="1250" dirty="0"/>
          </a:p>
        </p:txBody>
      </p:sp>
      <p:sp>
        <p:nvSpPr>
          <p:cNvPr id="11" name="Text 9"/>
          <p:cNvSpPr/>
          <p:nvPr/>
        </p:nvSpPr>
        <p:spPr>
          <a:xfrm>
            <a:off x="548640" y="3429000"/>
            <a:ext cx="10515600" cy="274320"/>
          </a:xfrm>
          <a:prstGeom prst="rect">
            <a:avLst/>
          </a:prstGeom>
          <a:noFill/>
          <a:ln/>
        </p:spPr>
        <p:txBody>
          <a:bodyPr wrap="square" lIns="0" tIns="0" rIns="0" bIns="0" rtlCol="0" anchor="ctr"/>
          <a:lstStyle/>
          <a:p>
            <a:pPr indent="0" marL="0">
              <a:buNone/>
            </a:pPr>
            <a:r>
              <a:rPr lang="en-US" sz="1100" i="1" dirty="0">
                <a:solidFill>
                  <a:srgbClr val="64748B"/>
                </a:solidFill>
                <a:latin typeface="Helvetica Neue" pitchFamily="34" charset="0"/>
                <a:ea typeface="Helvetica Neue" pitchFamily="34" charset="-122"/>
                <a:cs typeface="Helvetica Neue" pitchFamily="34" charset="-120"/>
              </a:rPr>
              <a:t>Huang et al., mBio 2021 · doi 10.1128/mbio.03281-20 — a longitudinal gingivitis cohort study</a:t>
            </a:r>
            <a:endParaRPr lang="en-US" sz="1100" dirty="0"/>
          </a:p>
        </p:txBody>
      </p:sp>
      <p:sp>
        <p:nvSpPr>
          <p:cNvPr id="12" name="Shape 10"/>
          <p:cNvSpPr/>
          <p:nvPr/>
        </p:nvSpPr>
        <p:spPr>
          <a:xfrm>
            <a:off x="548640" y="4069080"/>
            <a:ext cx="2679192" cy="1051560"/>
          </a:xfrm>
          <a:prstGeom prst="roundRect">
            <a:avLst>
              <a:gd name="adj" fmla="val 6087"/>
            </a:avLst>
          </a:prstGeom>
          <a:solidFill>
            <a:srgbClr val="FFFFFF"/>
          </a:solidFill>
          <a:ln w="15875">
            <a:solidFill>
              <a:srgbClr val="0F766E"/>
            </a:solidFill>
            <a:prstDash val="solid"/>
          </a:ln>
        </p:spPr>
        <p:txBody>
          <a:bodyPr/>
          <a:p/>
        </p:txBody>
      </p:sp>
      <p:sp>
        <p:nvSpPr>
          <p:cNvPr id="13" name="Text 11"/>
          <p:cNvSpPr/>
          <p:nvPr/>
        </p:nvSpPr>
        <p:spPr>
          <a:xfrm>
            <a:off x="731520" y="4224528"/>
            <a:ext cx="2313432" cy="7772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Helvetica Neue" pitchFamily="34" charset="0"/>
                <a:ea typeface="Helvetica Neue" pitchFamily="34" charset="-122"/>
                <a:cs typeface="Helvetica Neue" pitchFamily="34" charset="-120"/>
              </a:rPr>
              <a:t>Microbiome</a:t>
            </a:r>
            <a:endParaRPr lang="en-US" sz="1400" dirty="0"/>
          </a:p>
          <a:p>
            <a:pPr indent="0" marL="0">
              <a:spcAft>
                <a:spcPts val="300"/>
              </a:spcAft>
              <a:buNone/>
            </a:pPr>
            <a:r>
              <a:rPr lang="en-US" sz="1050" dirty="0">
                <a:solidFill>
                  <a:srgbClr val="64748B"/>
                </a:solidFill>
                <a:latin typeface="Helvetica Neue" pitchFamily="34" charset="0"/>
                <a:ea typeface="Helvetica Neue" pitchFamily="34" charset="-122"/>
                <a:cs typeface="Helvetica Neue" pitchFamily="34" charset="-120"/>
              </a:rPr>
              <a:t>genera table + metadata</a:t>
            </a:r>
            <a:endParaRPr lang="en-US" sz="1400" dirty="0"/>
          </a:p>
        </p:txBody>
      </p:sp>
      <p:sp>
        <p:nvSpPr>
          <p:cNvPr id="14" name="Shape 12"/>
          <p:cNvSpPr/>
          <p:nvPr/>
        </p:nvSpPr>
        <p:spPr>
          <a:xfrm>
            <a:off x="3374136" y="4069080"/>
            <a:ext cx="2679192" cy="1051560"/>
          </a:xfrm>
          <a:prstGeom prst="roundRect">
            <a:avLst>
              <a:gd name="adj" fmla="val 6087"/>
            </a:avLst>
          </a:prstGeom>
          <a:solidFill>
            <a:srgbClr val="FFFFFF"/>
          </a:solidFill>
          <a:ln w="15875">
            <a:solidFill>
              <a:srgbClr val="0F766E"/>
            </a:solidFill>
            <a:prstDash val="solid"/>
          </a:ln>
        </p:spPr>
        <p:txBody>
          <a:bodyPr/>
          <a:p/>
        </p:txBody>
      </p:sp>
      <p:sp>
        <p:nvSpPr>
          <p:cNvPr id="15" name="Text 13"/>
          <p:cNvSpPr/>
          <p:nvPr/>
        </p:nvSpPr>
        <p:spPr>
          <a:xfrm>
            <a:off x="3557016" y="4224528"/>
            <a:ext cx="2313432" cy="7772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Helvetica Neue" pitchFamily="34" charset="0"/>
                <a:ea typeface="Helvetica Neue" pitchFamily="34" charset="-122"/>
                <a:cs typeface="Helvetica Neue" pitchFamily="34" charset="-120"/>
              </a:rPr>
              <a:t>Metabolome</a:t>
            </a:r>
            <a:endParaRPr lang="en-US" sz="1400" dirty="0"/>
          </a:p>
          <a:p>
            <a:pPr indent="0" marL="0">
              <a:spcAft>
                <a:spcPts val="300"/>
              </a:spcAft>
              <a:buNone/>
            </a:pPr>
            <a:r>
              <a:rPr lang="en-US" sz="1050" dirty="0">
                <a:solidFill>
                  <a:srgbClr val="64748B"/>
                </a:solidFill>
                <a:latin typeface="Helvetica Neue" pitchFamily="34" charset="0"/>
                <a:ea typeface="Helvetica Neue" pitchFamily="34" charset="-122"/>
                <a:cs typeface="Helvetica Neue" pitchFamily="34" charset="-120"/>
              </a:rPr>
              <a:t>metabolite table + metadata</a:t>
            </a:r>
            <a:endParaRPr lang="en-US" sz="1400" dirty="0"/>
          </a:p>
        </p:txBody>
      </p:sp>
      <p:sp>
        <p:nvSpPr>
          <p:cNvPr id="16" name="Shape 14"/>
          <p:cNvSpPr/>
          <p:nvPr/>
        </p:nvSpPr>
        <p:spPr>
          <a:xfrm>
            <a:off x="6199632" y="4069080"/>
            <a:ext cx="2679192" cy="1051560"/>
          </a:xfrm>
          <a:prstGeom prst="roundRect">
            <a:avLst>
              <a:gd name="adj" fmla="val 6087"/>
            </a:avLst>
          </a:prstGeom>
          <a:solidFill>
            <a:srgbClr val="FFFFFF"/>
          </a:solidFill>
          <a:ln w="15875">
            <a:solidFill>
              <a:srgbClr val="0F766E"/>
            </a:solidFill>
            <a:prstDash val="solid"/>
          </a:ln>
        </p:spPr>
        <p:txBody>
          <a:bodyPr/>
          <a:p/>
        </p:txBody>
      </p:sp>
      <p:sp>
        <p:nvSpPr>
          <p:cNvPr id="17" name="Text 15"/>
          <p:cNvSpPr/>
          <p:nvPr/>
        </p:nvSpPr>
        <p:spPr>
          <a:xfrm>
            <a:off x="6382512" y="4224528"/>
            <a:ext cx="2313432" cy="7772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Helvetica Neue" pitchFamily="34" charset="0"/>
                <a:ea typeface="Helvetica Neue" pitchFamily="34" charset="-122"/>
                <a:cs typeface="Helvetica Neue" pitchFamily="34" charset="-120"/>
              </a:rPr>
              <a:t>Multi-omics</a:t>
            </a:r>
            <a:endParaRPr lang="en-US" sz="1400" dirty="0"/>
          </a:p>
          <a:p>
            <a:pPr indent="0" marL="0">
              <a:spcAft>
                <a:spcPts val="300"/>
              </a:spcAft>
              <a:buNone/>
            </a:pPr>
            <a:r>
              <a:rPr lang="en-US" sz="1050" dirty="0">
                <a:solidFill>
                  <a:srgbClr val="64748B"/>
                </a:solidFill>
                <a:latin typeface="Helvetica Neue" pitchFamily="34" charset="0"/>
                <a:ea typeface="Helvetica Neue" pitchFamily="34" charset="-122"/>
                <a:cs typeface="Helvetica Neue" pitchFamily="34" charset="-120"/>
              </a:rPr>
              <a:t>four matched files, one session</a:t>
            </a:r>
            <a:endParaRPr lang="en-US" sz="1400" dirty="0"/>
          </a:p>
        </p:txBody>
      </p:sp>
      <p:sp>
        <p:nvSpPr>
          <p:cNvPr id="18" name="Shape 16"/>
          <p:cNvSpPr/>
          <p:nvPr/>
        </p:nvSpPr>
        <p:spPr>
          <a:xfrm>
            <a:off x="9025128" y="4069080"/>
            <a:ext cx="2679192" cy="1051560"/>
          </a:xfrm>
          <a:prstGeom prst="roundRect">
            <a:avLst>
              <a:gd name="adj" fmla="val 6087"/>
            </a:avLst>
          </a:prstGeom>
          <a:solidFill>
            <a:srgbClr val="FFFFFF"/>
          </a:solidFill>
          <a:ln w="15875">
            <a:solidFill>
              <a:srgbClr val="0F766E"/>
            </a:solidFill>
            <a:prstDash val="solid"/>
          </a:ln>
        </p:spPr>
        <p:txBody>
          <a:bodyPr/>
          <a:p/>
        </p:txBody>
      </p:sp>
      <p:sp>
        <p:nvSpPr>
          <p:cNvPr id="19" name="Text 17"/>
          <p:cNvSpPr/>
          <p:nvPr/>
        </p:nvSpPr>
        <p:spPr>
          <a:xfrm>
            <a:off x="9208008" y="4224528"/>
            <a:ext cx="2313432" cy="7772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Helvetica Neue" pitchFamily="34" charset="0"/>
                <a:ea typeface="Helvetica Neue" pitchFamily="34" charset="-122"/>
                <a:cs typeface="Helvetica Neue" pitchFamily="34" charset="-120"/>
              </a:rPr>
              <a:t>Multi-site multi-omics</a:t>
            </a:r>
            <a:endParaRPr lang="en-US" sz="1400" dirty="0"/>
          </a:p>
          <a:p>
            <a:pPr indent="0" marL="0">
              <a:spcAft>
                <a:spcPts val="300"/>
              </a:spcAft>
              <a:buNone/>
            </a:pPr>
            <a:r>
              <a:rPr lang="en-US" sz="1050" dirty="0">
                <a:solidFill>
                  <a:srgbClr val="64748B"/>
                </a:solidFill>
                <a:latin typeface="Helvetica Neue" pitchFamily="34" charset="0"/>
                <a:ea typeface="Helvetica Neue" pitchFamily="34" charset="-122"/>
                <a:cs typeface="Helvetica Neue" pitchFamily="34" charset="-120"/>
              </a:rPr>
              <a:t>saliva + urine, 8 files</a:t>
            </a:r>
            <a:endParaRPr lang="en-US" sz="1400" dirty="0"/>
          </a:p>
        </p:txBody>
      </p:sp>
      <p:sp>
        <p:nvSpPr>
          <p:cNvPr id="20" name="Text 18"/>
          <p:cNvSpPr/>
          <p:nvPr/>
        </p:nvSpPr>
        <p:spPr>
          <a:xfrm>
            <a:off x="548640" y="5532120"/>
            <a:ext cx="11064240" cy="320040"/>
          </a:xfrm>
          <a:prstGeom prst="rect">
            <a:avLst/>
          </a:prstGeom>
          <a:noFill/>
          <a:ln/>
        </p:spPr>
        <p:txBody>
          <a:bodyPr wrap="square" lIns="0" tIns="0" rIns="0" bIns="0" rtlCol="0" anchor="ctr"/>
          <a:lstStyle/>
          <a:p>
            <a:pPr indent="0" marL="0">
              <a:buNone/>
            </a:pPr>
            <a:r>
              <a:rPr lang="en-US" sz="1200" dirty="0">
                <a:solidFill>
                  <a:srgbClr val="0F172A"/>
                </a:solidFill>
                <a:latin typeface="Helvetica Neue" pitchFamily="34" charset="0"/>
                <a:ea typeface="Helvetica Neue" pitchFamily="34" charset="-122"/>
                <a:cs typeface="Helvetica Neue" pitchFamily="34" charset="-120"/>
              </a:rPr>
              <a:t>Load one from the Agent page “Load demo dataset” menu — a validated session with all files is created in seconds.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10</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0F766E"/>
                </a:solidFill>
                <a:latin typeface="Helvetica Neue" pitchFamily="34" charset="0"/>
                <a:ea typeface="Helvetica Neue" pitchFamily="34" charset="-122"/>
                <a:cs typeface="Helvetica Neue" pitchFamily="34" charset="-120"/>
              </a:rPr>
              <a:t>GETTING IN</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Live on the lab intranet — nothing to install</a:t>
            </a:r>
            <a:endParaRPr lang="en-US" sz="2900" dirty="0"/>
          </a:p>
        </p:txBody>
      </p:sp>
      <p:sp>
        <p:nvSpPr>
          <p:cNvPr id="5" name="Text 3"/>
          <p:cNvSpPr/>
          <p:nvPr/>
        </p:nvSpPr>
        <p:spPr>
          <a:xfrm>
            <a:off x="548640" y="1691640"/>
            <a:ext cx="11064240" cy="777240"/>
          </a:xfrm>
          <a:prstGeom prst="rect">
            <a:avLst/>
          </a:prstGeom>
          <a:noFill/>
          <a:ln/>
        </p:spPr>
        <p:txBody>
          <a:bodyPr wrap="square" lIns="0" tIns="0" rIns="0" bIns="0" rtlCol="0" anchor="ctr"/>
          <a:lstStyle/>
          <a:p>
            <a:pPr indent="0" marL="0">
              <a:buNone/>
            </a:pPr>
            <a:r>
              <a:rPr lang="en-US" sz="4400" b="1" dirty="0">
                <a:solidFill>
                  <a:srgbClr val="0F766E"/>
                </a:solidFill>
                <a:latin typeface="Helvetica Neue" pitchFamily="34" charset="0"/>
                <a:ea typeface="Helvetica Neue" pitchFamily="34" charset="-122"/>
                <a:cs typeface="Helvetica Neue" pitchFamily="34" charset="-120"/>
              </a:rPr>
              <a:t>http://10.64.168.98</a:t>
            </a:r>
            <a:endParaRPr lang="en-US" sz="4400" dirty="0"/>
          </a:p>
        </p:txBody>
      </p:sp>
      <p:sp>
        <p:nvSpPr>
          <p:cNvPr id="6" name="Text 4"/>
          <p:cNvSpPr/>
          <p:nvPr/>
        </p:nvSpPr>
        <p:spPr>
          <a:xfrm>
            <a:off x="548640" y="2542032"/>
            <a:ext cx="10515600" cy="292608"/>
          </a:xfrm>
          <a:prstGeom prst="rect">
            <a:avLst/>
          </a:prstGeom>
          <a:noFill/>
          <a:ln/>
        </p:spPr>
        <p:txBody>
          <a:bodyPr wrap="square" lIns="0" tIns="0" rIns="0" bIns="0" rtlCol="0" anchor="ctr"/>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any modern browser · from the lab network · no client, no VPN, no setup</a:t>
            </a:r>
            <a:endParaRPr lang="en-US" sz="1300" dirty="0"/>
          </a:p>
        </p:txBody>
      </p:sp>
      <p:sp>
        <p:nvSpPr>
          <p:cNvPr id="7" name="Text 5"/>
          <p:cNvSpPr/>
          <p:nvPr/>
        </p:nvSpPr>
        <p:spPr>
          <a:xfrm>
            <a:off x="548640" y="3246120"/>
            <a:ext cx="11064240" cy="777240"/>
          </a:xfrm>
          <a:prstGeom prst="rect">
            <a:avLst/>
          </a:prstGeom>
          <a:noFill/>
          <a:ln/>
        </p:spPr>
        <p:txBody>
          <a:bodyPr wrap="square" lIns="0" tIns="0" rIns="0" bIns="0" rtlCol="0" anchor="t"/>
          <a:lstStyle/>
          <a:p>
            <a:pPr indent="0" marL="0">
              <a:spcAft>
                <a:spcPts val="400"/>
              </a:spcAft>
              <a:buNone/>
            </a:pPr>
            <a:r>
              <a:rPr lang="en-US" sz="1600" b="1" dirty="0">
                <a:solidFill>
                  <a:srgbClr val="0F172A"/>
                </a:solidFill>
                <a:latin typeface="Helvetica Neue" pitchFamily="34" charset="0"/>
                <a:ea typeface="Helvetica Neue" pitchFamily="34" charset="-122"/>
                <a:cs typeface="Helvetica Neue" pitchFamily="34" charset="-120"/>
              </a:rPr>
              <a:t>Guest mode</a:t>
            </a:r>
            <a:endParaRPr lang="en-US" sz="1600" dirty="0"/>
          </a:p>
          <a:p>
            <a:pPr indent="0" marL="0">
              <a:spcAft>
                <a:spcPts val="400"/>
              </a:spcAft>
              <a:buNone/>
            </a:pPr>
            <a:r>
              <a:rPr lang="en-US" sz="1200" dirty="0">
                <a:solidFill>
                  <a:srgbClr val="64748B"/>
                </a:solidFill>
                <a:latin typeface="Helvetica Neue" pitchFamily="34" charset="0"/>
                <a:ea typeface="Helvetica Neue" pitchFamily="34" charset="-122"/>
                <a:cs typeface="Helvetica Neue" pitchFamily="34" charset="-120"/>
              </a:rPr>
              <a:t>open the URL and go — browse every page, run demo datasets, chat with the Agent. Zero setup.</a:t>
            </a:r>
            <a:endParaRPr lang="en-US" sz="1600" dirty="0"/>
          </a:p>
        </p:txBody>
      </p:sp>
      <p:sp>
        <p:nvSpPr>
          <p:cNvPr id="8" name="Shape 6"/>
          <p:cNvSpPr/>
          <p:nvPr/>
        </p:nvSpPr>
        <p:spPr>
          <a:xfrm>
            <a:off x="548640" y="4050792"/>
            <a:ext cx="11064240" cy="0"/>
          </a:xfrm>
          <a:prstGeom prst="line">
            <a:avLst/>
          </a:prstGeom>
          <a:noFill/>
          <a:ln w="12700">
            <a:solidFill>
              <a:srgbClr val="E2E8F0"/>
            </a:solidFill>
            <a:prstDash val="solid"/>
          </a:ln>
        </p:spPr>
        <p:txBody>
          <a:bodyPr/>
          <a:p/>
        </p:txBody>
      </p:sp>
      <p:sp>
        <p:nvSpPr>
          <p:cNvPr id="9" name="Text 7"/>
          <p:cNvSpPr/>
          <p:nvPr/>
        </p:nvSpPr>
        <p:spPr>
          <a:xfrm>
            <a:off x="548640" y="4233672"/>
            <a:ext cx="11064240" cy="777240"/>
          </a:xfrm>
          <a:prstGeom prst="rect">
            <a:avLst/>
          </a:prstGeom>
          <a:noFill/>
          <a:ln/>
        </p:spPr>
        <p:txBody>
          <a:bodyPr wrap="square" lIns="0" tIns="0" rIns="0" bIns="0" rtlCol="0" anchor="t"/>
          <a:lstStyle/>
          <a:p>
            <a:pPr indent="0" marL="0">
              <a:spcAft>
                <a:spcPts val="400"/>
              </a:spcAft>
              <a:buNone/>
            </a:pPr>
            <a:r>
              <a:rPr lang="en-US" sz="1600" b="1" dirty="0">
                <a:solidFill>
                  <a:srgbClr val="0F172A"/>
                </a:solidFill>
                <a:latin typeface="Helvetica Neue" pitchFamily="34" charset="0"/>
                <a:ea typeface="Helvetica Neue" pitchFamily="34" charset="-122"/>
                <a:cs typeface="Helvetica Neue" pitchFamily="34" charset="-120"/>
              </a:rPr>
              <a:t>Student account</a:t>
            </a:r>
            <a:endParaRPr lang="en-US" sz="1600" dirty="0"/>
          </a:p>
          <a:p>
            <a:pPr indent="0" marL="0">
              <a:spcAft>
                <a:spcPts val="400"/>
              </a:spcAft>
              <a:buNone/>
            </a:pPr>
            <a:r>
              <a:rPr lang="en-US" sz="1200" dirty="0">
                <a:solidFill>
                  <a:srgbClr val="64748B"/>
                </a:solidFill>
                <a:latin typeface="Helvetica Neue" pitchFamily="34" charset="0"/>
                <a:ea typeface="Helvetica Neue" pitchFamily="34" charset="-122"/>
                <a:cs typeface="Helvetica Neue" pitchFamily="34" charset="-120"/>
              </a:rPr>
              <a:t>upload your own tables, private analysis sessions, 500 MB storage quota, changeable password.</a:t>
            </a:r>
            <a:endParaRPr lang="en-US" sz="1600" dirty="0"/>
          </a:p>
        </p:txBody>
      </p:sp>
      <p:sp>
        <p:nvSpPr>
          <p:cNvPr id="10" name="Shape 8"/>
          <p:cNvSpPr/>
          <p:nvPr/>
        </p:nvSpPr>
        <p:spPr>
          <a:xfrm>
            <a:off x="548640" y="5038344"/>
            <a:ext cx="11064240" cy="0"/>
          </a:xfrm>
          <a:prstGeom prst="line">
            <a:avLst/>
          </a:prstGeom>
          <a:noFill/>
          <a:ln w="12700">
            <a:solidFill>
              <a:srgbClr val="E2E8F0"/>
            </a:solidFill>
            <a:prstDash val="solid"/>
          </a:ln>
        </p:spPr>
        <p:txBody>
          <a:bodyPr/>
          <a:p/>
        </p:txBody>
      </p:sp>
      <p:sp>
        <p:nvSpPr>
          <p:cNvPr id="11" name="Text 9"/>
          <p:cNvSpPr/>
          <p:nvPr/>
        </p:nvSpPr>
        <p:spPr>
          <a:xfrm>
            <a:off x="548640" y="5221224"/>
            <a:ext cx="11064240" cy="777240"/>
          </a:xfrm>
          <a:prstGeom prst="rect">
            <a:avLst/>
          </a:prstGeom>
          <a:noFill/>
          <a:ln/>
        </p:spPr>
        <p:txBody>
          <a:bodyPr wrap="square" lIns="0" tIns="0" rIns="0" bIns="0" rtlCol="0" anchor="t"/>
          <a:lstStyle/>
          <a:p>
            <a:pPr indent="0" marL="0">
              <a:spcAft>
                <a:spcPts val="400"/>
              </a:spcAft>
              <a:buNone/>
            </a:pPr>
            <a:r>
              <a:rPr lang="en-US" sz="1600" b="1" dirty="0">
                <a:solidFill>
                  <a:srgbClr val="0F172A"/>
                </a:solidFill>
                <a:latin typeface="Helvetica Neue" pitchFamily="34" charset="0"/>
                <a:ea typeface="Helvetica Neue" pitchFamily="34" charset="-122"/>
                <a:cs typeface="Helvetica Neue" pitchFamily="34" charset="-120"/>
              </a:rPr>
              <a:t>Test accounts</a:t>
            </a:r>
            <a:endParaRPr lang="en-US" sz="1600" dirty="0"/>
          </a:p>
          <a:p>
            <a:pPr indent="0" marL="0">
              <a:spcAft>
                <a:spcPts val="400"/>
              </a:spcAft>
              <a:buNone/>
            </a:pPr>
            <a:r>
              <a:rPr lang="en-US" sz="1200" dirty="0">
                <a:solidFill>
                  <a:srgbClr val="64748B"/>
                </a:solidFill>
                <a:latin typeface="Helvetica Neue" pitchFamily="34" charset="0"/>
                <a:ea typeface="Helvetica Neue" pitchFamily="34" charset="-122"/>
                <a:cs typeface="Helvetica Neue" pitchFamily="34" charset="-120"/>
              </a:rPr>
              <a:t>student01–student10, password Meta2b-2026 — log in and start uploading your own data right away.</a:t>
            </a:r>
            <a:endParaRPr lang="en-US" sz="1600" dirty="0"/>
          </a:p>
        </p:txBody>
      </p:sp>
      <p:sp>
        <p:nvSpPr>
          <p:cNvPr id="12" name="Text 10"/>
          <p:cNvSpPr/>
          <p:nvPr/>
        </p:nvSpPr>
        <p:spPr>
          <a:xfrm>
            <a:off x="548640" y="6263640"/>
            <a:ext cx="11064240" cy="274320"/>
          </a:xfrm>
          <a:prstGeom prst="rect">
            <a:avLst/>
          </a:prstGeom>
          <a:noFill/>
          <a:ln/>
        </p:spPr>
        <p:txBody>
          <a:bodyPr wrap="square" lIns="0" tIns="0" rIns="0" bIns="0" rtlCol="0" anchor="ctr"/>
          <a:lstStyle/>
          <a:p>
            <a:pPr indent="0" marL="0">
              <a:buNone/>
            </a:pPr>
            <a:r>
              <a:rPr lang="en-US" sz="1100" i="1" dirty="0">
                <a:solidFill>
                  <a:srgbClr val="64748B"/>
                </a:solidFill>
                <a:latin typeface="Helvetica Neue" pitchFamily="34" charset="0"/>
                <a:ea typeface="Helvetica Neue" pitchFamily="34" charset="-122"/>
                <a:cs typeface="Helvetica Neue" pitchFamily="34" charset="-120"/>
              </a:rPr>
              <a:t>Note: reachable from the lab intranet only — not from home. Data lives on our own server.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64748B"/>
                </a:solidFill>
                <a:latin typeface="Helvetica Neue" pitchFamily="34" charset="0"/>
                <a:ea typeface="Helvetica Neue" pitchFamily="34" charset="-122"/>
                <a:cs typeface="Helvetica Neue" pitchFamily="34" charset="-120"/>
              </a:rPr>
              <a:t>11</a:t>
            </a:r>
            <a:endParaRPr lang="en-US" sz="1000" dirty="0"/>
          </a:p>
        </p:txBody>
      </p:sp>
      <p:sp>
        <p:nvSpPr>
          <p:cNvPr id="3" name="Text 1"/>
          <p:cNvSpPr/>
          <p:nvPr/>
        </p:nvSpPr>
        <p:spPr>
          <a:xfrm>
            <a:off x="548640" y="457200"/>
            <a:ext cx="10058400" cy="274320"/>
          </a:xfrm>
          <a:prstGeom prst="rect">
            <a:avLst/>
          </a:prstGeom>
          <a:noFill/>
          <a:ln/>
        </p:spPr>
        <p:txBody>
          <a:bodyPr wrap="square" lIns="0" tIns="0" rIns="0" bIns="0" rtlCol="0" anchor="ctr"/>
          <a:lstStyle/>
          <a:p>
            <a:pPr indent="0" marL="0">
              <a:buNone/>
            </a:pPr>
            <a:r>
              <a:rPr lang="en-US" sz="1100" b="1" spc="300" kern="0" dirty="0">
                <a:solidFill>
                  <a:srgbClr val="D97706"/>
                </a:solidFill>
                <a:latin typeface="Helvetica Neue" pitchFamily="34" charset="0"/>
                <a:ea typeface="Helvetica Neue" pitchFamily="34" charset="-122"/>
                <a:cs typeface="Helvetica Neue" pitchFamily="34" charset="-120"/>
              </a:rPr>
              <a:t>THE ASK</a:t>
            </a:r>
            <a:endParaRPr lang="en-US" sz="1100" dirty="0"/>
          </a:p>
        </p:txBody>
      </p:sp>
      <p:sp>
        <p:nvSpPr>
          <p:cNvPr id="4" name="Text 2"/>
          <p:cNvSpPr/>
          <p:nvPr/>
        </p:nvSpPr>
        <p:spPr>
          <a:xfrm>
            <a:off x="548640" y="768096"/>
            <a:ext cx="11064240" cy="658368"/>
          </a:xfrm>
          <a:prstGeom prst="rect">
            <a:avLst/>
          </a:prstGeom>
          <a:noFill/>
          <a:ln/>
        </p:spPr>
        <p:txBody>
          <a:bodyPr wrap="square" lIns="0" tIns="0" rIns="0" bIns="0" rtlCol="0" anchor="ctr"/>
          <a:lstStyle/>
          <a:p>
            <a:pPr indent="0" marL="0">
              <a:buNone/>
            </a:pPr>
            <a:r>
              <a:rPr lang="en-US" sz="2900" b="1" dirty="0">
                <a:solidFill>
                  <a:srgbClr val="0F172A"/>
                </a:solidFill>
                <a:latin typeface="Helvetica Neue" pitchFamily="34" charset="0"/>
                <a:ea typeface="Helvetica Neue" pitchFamily="34" charset="-122"/>
                <a:cs typeface="Helvetica Neue" pitchFamily="34" charset="-120"/>
              </a:rPr>
              <a:t>What I'd love you to try this week</a:t>
            </a:r>
            <a:endParaRPr lang="en-US" sz="2900" dirty="0"/>
          </a:p>
        </p:txBody>
      </p:sp>
      <p:sp>
        <p:nvSpPr>
          <p:cNvPr id="5" name="Text 3"/>
          <p:cNvSpPr/>
          <p:nvPr/>
        </p:nvSpPr>
        <p:spPr>
          <a:xfrm>
            <a:off x="548640" y="1828800"/>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01</a:t>
            </a:r>
            <a:endParaRPr lang="en-US" sz="2000" dirty="0"/>
          </a:p>
        </p:txBody>
      </p:sp>
      <p:sp>
        <p:nvSpPr>
          <p:cNvPr id="6" name="Text 4"/>
          <p:cNvSpPr/>
          <p:nvPr/>
        </p:nvSpPr>
        <p:spPr>
          <a:xfrm>
            <a:off x="1207008" y="1810512"/>
            <a:ext cx="62910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Run your usual analysis</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load a demo dataset, do what you normally do, and compare the output with your current pipeline.</a:t>
            </a:r>
            <a:endParaRPr lang="en-US" sz="1450" dirty="0"/>
          </a:p>
        </p:txBody>
      </p:sp>
      <p:sp>
        <p:nvSpPr>
          <p:cNvPr id="7" name="Text 5"/>
          <p:cNvSpPr/>
          <p:nvPr/>
        </p:nvSpPr>
        <p:spPr>
          <a:xfrm>
            <a:off x="548640" y="2816352"/>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02</a:t>
            </a:r>
            <a:endParaRPr lang="en-US" sz="2000" dirty="0"/>
          </a:p>
        </p:txBody>
      </p:sp>
      <p:sp>
        <p:nvSpPr>
          <p:cNvPr id="8" name="Text 6"/>
          <p:cNvSpPr/>
          <p:nvPr/>
        </p:nvSpPr>
        <p:spPr>
          <a:xfrm>
            <a:off x="1207008" y="2798064"/>
            <a:ext cx="62910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Upload your own tables</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format validation is the part that most needs stress-testing with real-world data.</a:t>
            </a:r>
            <a:endParaRPr lang="en-US" sz="1450" dirty="0"/>
          </a:p>
        </p:txBody>
      </p:sp>
      <p:sp>
        <p:nvSpPr>
          <p:cNvPr id="9" name="Text 7"/>
          <p:cNvSpPr/>
          <p:nvPr/>
        </p:nvSpPr>
        <p:spPr>
          <a:xfrm>
            <a:off x="548640" y="3803904"/>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03</a:t>
            </a:r>
            <a:endParaRPr lang="en-US" sz="2000" dirty="0"/>
          </a:p>
        </p:txBody>
      </p:sp>
      <p:sp>
        <p:nvSpPr>
          <p:cNvPr id="10" name="Text 8"/>
          <p:cNvSpPr/>
          <p:nvPr/>
        </p:nvSpPr>
        <p:spPr>
          <a:xfrm>
            <a:off x="1207008" y="3785616"/>
            <a:ext cx="62910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Ask the Agent a real question</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something from your actual project, in English or Chinese — tell me when it misunderstands.</a:t>
            </a:r>
            <a:endParaRPr lang="en-US" sz="1450" dirty="0"/>
          </a:p>
        </p:txBody>
      </p:sp>
      <p:sp>
        <p:nvSpPr>
          <p:cNvPr id="11" name="Text 9"/>
          <p:cNvSpPr/>
          <p:nvPr/>
        </p:nvSpPr>
        <p:spPr>
          <a:xfrm>
            <a:off x="548640" y="4791456"/>
            <a:ext cx="566928" cy="502920"/>
          </a:xfrm>
          <a:prstGeom prst="rect">
            <a:avLst/>
          </a:prstGeom>
          <a:noFill/>
          <a:ln/>
        </p:spPr>
        <p:txBody>
          <a:bodyPr wrap="square" lIns="0" tIns="0" rIns="0" bIns="0" rtlCol="0" anchor="ctr"/>
          <a:lstStyle/>
          <a:p>
            <a:pPr indent="0" marL="0">
              <a:buNone/>
            </a:pPr>
            <a:r>
              <a:rPr lang="en-US" sz="2000" b="1" dirty="0">
                <a:solidFill>
                  <a:srgbClr val="0F766E"/>
                </a:solidFill>
                <a:latin typeface="Helvetica Neue" pitchFamily="34" charset="0"/>
                <a:ea typeface="Helvetica Neue" pitchFamily="34" charset="-122"/>
                <a:cs typeface="Helvetica Neue" pitchFamily="34" charset="-120"/>
              </a:rPr>
              <a:t>04</a:t>
            </a:r>
            <a:endParaRPr lang="en-US" sz="2000" dirty="0"/>
          </a:p>
        </p:txBody>
      </p:sp>
      <p:sp>
        <p:nvSpPr>
          <p:cNvPr id="12" name="Text 10"/>
          <p:cNvSpPr/>
          <p:nvPr/>
        </p:nvSpPr>
        <p:spPr>
          <a:xfrm>
            <a:off x="1207008" y="4773168"/>
            <a:ext cx="6291072" cy="777240"/>
          </a:xfrm>
          <a:prstGeom prst="rect">
            <a:avLst/>
          </a:prstGeom>
          <a:noFill/>
          <a:ln/>
        </p:spPr>
        <p:txBody>
          <a:bodyPr wrap="square" lIns="0" tIns="0" rIns="0" bIns="0" rtlCol="0" anchor="t"/>
          <a:lstStyle/>
          <a:p>
            <a:pPr indent="0" marL="0">
              <a:spcAft>
                <a:spcPts val="200"/>
              </a:spcAft>
              <a:buNone/>
            </a:pPr>
            <a:r>
              <a:rPr lang="en-US" sz="1450" b="1" dirty="0">
                <a:solidFill>
                  <a:srgbClr val="0F172A"/>
                </a:solidFill>
                <a:latin typeface="Helvetica Neue" pitchFamily="34" charset="0"/>
                <a:ea typeface="Helvetica Neue" pitchFamily="34" charset="-122"/>
                <a:cs typeface="Helvetica Neue" pitchFamily="34" charset="-120"/>
              </a:rPr>
              <a:t>Try to break it</a:t>
            </a:r>
            <a:endParaRPr lang="en-US" sz="1450" dirty="0"/>
          </a:p>
          <a:p>
            <a:pPr indent="0" marL="0">
              <a:spcAft>
                <a:spcPts val="200"/>
              </a:spcAft>
              <a:buNone/>
            </a:pPr>
            <a:r>
              <a:rPr lang="en-US" sz="1100" dirty="0">
                <a:solidFill>
                  <a:srgbClr val="64748B"/>
                </a:solidFill>
                <a:latin typeface="Helvetica Neue" pitchFamily="34" charset="0"/>
                <a:ea typeface="Helvetica Neue" pitchFamily="34" charset="-122"/>
                <a:cs typeface="Helvetica Neue" pitchFamily="34" charset="-120"/>
              </a:rPr>
              <a:t>weird formats, tiny cohorts, missing values — edge cases are exactly what I need to see.</a:t>
            </a:r>
            <a:endParaRPr lang="en-US" sz="1450" dirty="0"/>
          </a:p>
        </p:txBody>
      </p:sp>
      <p:sp>
        <p:nvSpPr>
          <p:cNvPr id="13" name="Shape 11"/>
          <p:cNvSpPr/>
          <p:nvPr/>
        </p:nvSpPr>
        <p:spPr>
          <a:xfrm>
            <a:off x="8092440" y="1828800"/>
            <a:ext cx="3520440" cy="3794760"/>
          </a:xfrm>
          <a:prstGeom prst="roundRect">
            <a:avLst>
              <a:gd name="adj" fmla="val 2078"/>
            </a:avLst>
          </a:prstGeom>
          <a:solidFill>
            <a:srgbClr val="FFFFFF"/>
          </a:solidFill>
          <a:ln w="12700">
            <a:solidFill>
              <a:srgbClr val="E2E8F0"/>
            </a:solidFill>
            <a:prstDash val="solid"/>
          </a:ln>
          <a:effectLst>
            <a:outerShdw sx="100000" sy="100000" kx="0" ky="0" algn="bl" rotWithShape="0" blurRad="88900" dist="25400" dir="2700000">
              <a:srgbClr val="94A3B8">
                <a:alpha val="32000"/>
              </a:srgbClr>
            </a:outerShdw>
          </a:effectLst>
        </p:spPr>
        <p:txBody>
          <a:bodyPr/>
          <a:p/>
        </p:txBody>
      </p:sp>
      <p:sp>
        <p:nvSpPr>
          <p:cNvPr id="14" name="Text 12"/>
          <p:cNvSpPr/>
          <p:nvPr/>
        </p:nvSpPr>
        <p:spPr>
          <a:xfrm>
            <a:off x="8321040" y="2103120"/>
            <a:ext cx="3063240" cy="3291840"/>
          </a:xfrm>
          <a:prstGeom prst="rect">
            <a:avLst/>
          </a:prstGeom>
          <a:noFill/>
          <a:ln/>
        </p:spPr>
        <p:txBody>
          <a:bodyPr wrap="square" lIns="0" tIns="0" rIns="0" bIns="0" rtlCol="0" anchor="t"/>
          <a:lstStyle/>
          <a:p>
            <a:pPr indent="0" marL="0">
              <a:lnSpc>
                <a:spcPct val="115000"/>
              </a:lnSpc>
              <a:spcAft>
                <a:spcPts val="1000"/>
              </a:spcAft>
              <a:buNone/>
            </a:pPr>
            <a:r>
              <a:rPr lang="en-US" sz="1600" b="1" dirty="0">
                <a:solidFill>
                  <a:srgbClr val="0F172A"/>
                </a:solidFill>
                <a:latin typeface="Helvetica Neue" pitchFamily="34" charset="0"/>
                <a:ea typeface="Helvetica Neue" pitchFamily="34" charset="-122"/>
                <a:cs typeface="Helvetica Neue" pitchFamily="34" charset="-120"/>
              </a:rPr>
              <a:t>When something breaks</a:t>
            </a:r>
            <a:endParaRPr lang="en-US" sz="1600" dirty="0"/>
          </a:p>
          <a:p>
            <a:pPr indent="0" marL="0">
              <a:lnSpc>
                <a:spcPct val="115000"/>
              </a:lnSpc>
              <a:spcAft>
                <a:spcPts val="1000"/>
              </a:spcAft>
              <a:buNone/>
            </a:pPr>
            <a:r>
              <a:rPr lang="en-US" sz="1150" dirty="0">
                <a:solidFill>
                  <a:srgbClr val="64748B"/>
                </a:solidFill>
                <a:latin typeface="Helvetica Neue" pitchFamily="34" charset="0"/>
                <a:ea typeface="Helvetica Neue" pitchFamily="34" charset="-122"/>
                <a:cs typeface="Helvetica Neue" pitchFamily="34" charset="-120"/>
              </a:rPr>
              <a:t>send me a screenshot plus one line:</a:t>
            </a:r>
            <a:endParaRPr lang="en-US" sz="1600" dirty="0"/>
          </a:p>
          <a:p>
            <a:pPr indent="0" marL="0">
              <a:lnSpc>
                <a:spcPct val="115000"/>
              </a:lnSpc>
              <a:spcAft>
                <a:spcPts val="1000"/>
              </a:spcAft>
              <a:buNone/>
            </a:pPr>
            <a:r>
              <a:rPr lang="en-US" sz="1150" b="1" dirty="0">
                <a:solidFill>
                  <a:srgbClr val="0F766E"/>
                </a:solidFill>
                <a:latin typeface="Helvetica Neue" pitchFamily="34" charset="0"/>
                <a:ea typeface="Helvetica Neue" pitchFamily="34" charset="-122"/>
                <a:cs typeface="Helvetica Neue" pitchFamily="34" charset="-120"/>
              </a:rPr>
              <a:t>which page · what you clicked · what happened</a:t>
            </a:r>
            <a:endParaRPr lang="en-US" sz="1600" dirty="0"/>
          </a:p>
          <a:p>
            <a:pPr indent="0" marL="0">
              <a:lnSpc>
                <a:spcPct val="115000"/>
              </a:lnSpc>
              <a:spcAft>
                <a:spcPts val="1000"/>
              </a:spcAft>
              <a:buNone/>
            </a:pPr>
            <a:r>
              <a:rPr lang="en-US" sz="1100" dirty="0">
                <a:solidFill>
                  <a:srgbClr val="64748B"/>
                </a:solidFill>
                <a:latin typeface="Helvetica Neue" pitchFamily="34" charset="0"/>
                <a:ea typeface="Helvetica Neue" pitchFamily="34" charset="-122"/>
                <a:cs typeface="Helvetica Neue" pitchFamily="34" charset="-120"/>
              </a:rPr>
              <a:t>That's the whole bug report. Agent misunderstandings are especially welcome — they teach the planner.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11274552" y="6382512"/>
            <a:ext cx="411480" cy="274320"/>
          </a:xfrm>
          <a:prstGeom prst="rect">
            <a:avLst/>
          </a:prstGeom>
          <a:noFill/>
          <a:ln/>
        </p:spPr>
        <p:txBody>
          <a:bodyPr wrap="square" lIns="0" tIns="0" rIns="0" bIns="0" rtlCol="0" anchor="ctr"/>
          <a:lstStyle/>
          <a:p>
            <a:pPr algn="r" indent="0" marL="0">
              <a:buNone/>
            </a:pPr>
            <a:r>
              <a:rPr lang="en-US" sz="1000" dirty="0">
                <a:solidFill>
                  <a:srgbClr val="CBD5E1"/>
                </a:solidFill>
                <a:latin typeface="Helvetica Neue" pitchFamily="34" charset="0"/>
                <a:ea typeface="Helvetica Neue" pitchFamily="34" charset="-122"/>
                <a:cs typeface="Helvetica Neue" pitchFamily="34" charset="-120"/>
              </a:rPr>
              <a:t>12</a:t>
            </a:r>
            <a:endParaRPr lang="en-US" sz="1000" dirty="0"/>
          </a:p>
        </p:txBody>
      </p:sp>
      <p:sp>
        <p:nvSpPr>
          <p:cNvPr id="3" name="Text 1"/>
          <p:cNvSpPr/>
          <p:nvPr/>
        </p:nvSpPr>
        <p:spPr>
          <a:xfrm>
            <a:off x="548640" y="192024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Helvetica Neue" pitchFamily="34" charset="0"/>
                <a:ea typeface="Helvetica Neue" pitchFamily="34" charset="-122"/>
                <a:cs typeface="Helvetica Neue" pitchFamily="34" charset="-120"/>
              </a:rPr>
              <a:t>Try it this week.</a:t>
            </a:r>
            <a:endParaRPr lang="en-US" sz="4800" dirty="0"/>
          </a:p>
        </p:txBody>
      </p:sp>
      <p:sp>
        <p:nvSpPr>
          <p:cNvPr id="4" name="Text 2"/>
          <p:cNvSpPr/>
          <p:nvPr/>
        </p:nvSpPr>
        <p:spPr>
          <a:xfrm>
            <a:off x="548640" y="3017520"/>
            <a:ext cx="10515600" cy="685800"/>
          </a:xfrm>
          <a:prstGeom prst="rect">
            <a:avLst/>
          </a:prstGeom>
          <a:noFill/>
          <a:ln/>
        </p:spPr>
        <p:txBody>
          <a:bodyPr wrap="square" lIns="0" tIns="0" rIns="0" bIns="0" rtlCol="0" anchor="ctr"/>
          <a:lstStyle/>
          <a:p>
            <a:pPr indent="0" marL="0">
              <a:buNone/>
            </a:pPr>
            <a:r>
              <a:rPr lang="en-US" sz="3000" b="1" dirty="0">
                <a:solidFill>
                  <a:srgbClr val="D97706"/>
                </a:solidFill>
                <a:latin typeface="Helvetica Neue" pitchFamily="34" charset="0"/>
                <a:ea typeface="Helvetica Neue" pitchFamily="34" charset="-122"/>
                <a:cs typeface="Helvetica Neue" pitchFamily="34" charset="-120"/>
              </a:rPr>
              <a:t>http://10.64.168.98</a:t>
            </a:r>
            <a:endParaRPr lang="en-US" sz="3000" dirty="0"/>
          </a:p>
        </p:txBody>
      </p:sp>
      <p:sp>
        <p:nvSpPr>
          <p:cNvPr id="5" name="Text 3"/>
          <p:cNvSpPr/>
          <p:nvPr/>
        </p:nvSpPr>
        <p:spPr>
          <a:xfrm>
            <a:off x="548640" y="3794760"/>
            <a:ext cx="10515600" cy="320040"/>
          </a:xfrm>
          <a:prstGeom prst="rect">
            <a:avLst/>
          </a:prstGeom>
          <a:noFill/>
          <a:ln/>
        </p:spPr>
        <p:txBody>
          <a:bodyPr wrap="square" lIns="0" tIns="0" rIns="0" bIns="0" rtlCol="0" anchor="ctr"/>
          <a:lstStyle/>
          <a:p>
            <a:pPr indent="0" marL="0">
              <a:buNone/>
            </a:pPr>
            <a:r>
              <a:rPr lang="en-US" sz="1400" dirty="0">
                <a:solidFill>
                  <a:srgbClr val="CBD5E1"/>
                </a:solidFill>
                <a:latin typeface="Helvetica Neue" pitchFamily="34" charset="0"/>
                <a:ea typeface="Helvetica Neue" pitchFamily="34" charset="-122"/>
                <a:cs typeface="Helvetica Neue" pitchFamily="34" charset="-120"/>
              </a:rPr>
              <a:t>guest mode works right now — no account needed · student accounts from me on request</a:t>
            </a:r>
            <a:endParaRPr lang="en-US" sz="1400" dirty="0"/>
          </a:p>
        </p:txBody>
      </p:sp>
      <p:sp>
        <p:nvSpPr>
          <p:cNvPr id="6" name="Text 4"/>
          <p:cNvSpPr/>
          <p:nvPr/>
        </p:nvSpPr>
        <p:spPr>
          <a:xfrm>
            <a:off x="548640" y="5120640"/>
            <a:ext cx="10515600" cy="457200"/>
          </a:xfrm>
          <a:prstGeom prst="rect">
            <a:avLst/>
          </a:prstGeom>
          <a:noFill/>
          <a:ln/>
        </p:spPr>
        <p:txBody>
          <a:bodyPr wrap="square" lIns="0" tIns="0" rIns="0" bIns="0" rtlCol="0" anchor="ctr"/>
          <a:lstStyle/>
          <a:p>
            <a:pPr indent="0" marL="0">
              <a:buNone/>
            </a:pPr>
            <a:r>
              <a:rPr lang="en-US" sz="2000" dirty="0">
                <a:solidFill>
                  <a:srgbClr val="FFFFFF"/>
                </a:solidFill>
                <a:latin typeface="Helvetica Neue" pitchFamily="34" charset="0"/>
                <a:ea typeface="Helvetica Neue" pitchFamily="34" charset="-122"/>
                <a:cs typeface="Helvetica Neue"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Meta2bAnalyst — One-stop analysis platform for 2bRAD microbiome &amp; multi-omics data</dc:title>
  <dc:subject>PptxGenJS Presentation</dc:subject>
  <dc:creator>Meta2bAnalyst</dc:creator>
  <cp:lastModifiedBy>Meta2bAnalyst</cp:lastModifiedBy>
  <cp:revision>1</cp:revision>
  <dcterms:created xsi:type="dcterms:W3CDTF">2026-09-23T09:52:00Z</dcterms:created>
  <dcterms:modified xsi:type="dcterms:W3CDTF">2026-09-23T09:52:00Z</dcterms:modified>
</cp:coreProperties>
</file>